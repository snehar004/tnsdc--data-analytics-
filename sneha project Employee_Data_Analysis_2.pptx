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9" r:id="rId11"/>
    <p:sldId id="263" r:id="rId12"/>
    <p:sldId id="264" r:id="rId13"/>
    <p:sldId id="265" r:id="rId14"/>
    <p:sldId id="274" r:id="rId15"/>
    <p:sldId id="275" r:id="rId16"/>
    <p:sldId id="268" r:id="rId17"/>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68"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9" d="100"/>
          <a:sy n="59" d="100"/>
        </p:scale>
        <p:origin x="940" y="52"/>
      </p:cViewPr>
      <p:guideLst>
        <p:guide orient="horz" pos="2868"/>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sooraj%20R\OneDrive\Desktop\employee_data.csv%20Sneha%20R%20Project.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sooraj%20R\OneDrive\Desktop\employee_data.csv%20Sneha%20R%20Project.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sooraj%20R\OneDrive\Desktop\employee_data.csv%20Sneha%20R%20Project.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sooraj%20R\OneDrive\Desktop\employee_data.csv%20Sneha%20R%20Project.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sooraj%20R\OneDrive\Desktop\employee_data.csv%20Sneha%20R%20Projec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[employee_data.csv Sneha R Project.xlsx]Sheet1!PivotTable1</c:name>
    <c:fmtId val="-1"/>
  </c:pivotSource>
  <c:chart>
    <c:title>
      <c:tx>
        <c:rich>
          <a:bodyPr rot="0" spcFirstLastPara="0" vertOverflow="ellipsis" vert="horz" wrap="square" anchor="ctr" anchorCtr="1"/>
          <a:lstStyle/>
          <a:p>
            <a:pPr defTabSz="914400">
              <a:defRPr lang="en-US" sz="960" b="1" i="0" u="none" strike="noStrike" kern="1200" baseline="0">
                <a:solidFill>
                  <a:schemeClr val="tx1">
                    <a:lumMod val="75000"/>
                    <a:lumOff val="25000"/>
                  </a:schemeClr>
                </a:solidFill>
                <a:latin typeface="+mn-lt"/>
                <a:ea typeface="+mn-ea"/>
                <a:cs typeface="+mn-cs"/>
              </a:defRPr>
            </a:pPr>
            <a:r>
              <a:rPr sz="960" b="1"/>
              <a:t>Employee Performance Analysis</a:t>
            </a:r>
            <a:endParaRPr sz="960" b="1"/>
          </a:p>
        </c:rich>
      </c:tx>
      <c:layout>
        <c:manualLayout>
          <c:xMode val="edge"/>
          <c:yMode val="edge"/>
          <c:x val="0.398558475830015"/>
          <c:y val="0.0703757325719597"/>
        </c:manualLayout>
      </c:layout>
      <c:overlay val="0"/>
      <c:spPr>
        <a:solidFill>
          <a:schemeClr val="accent1">
            <a:lumMod val="20000"/>
            <a:lumOff val="80000"/>
          </a:schemeClr>
        </a:solidFill>
        <a:ln>
          <a:noFill/>
        </a:ln>
        <a:effectLst/>
      </c:spPr>
    </c:title>
    <c:autoTitleDeleted val="0"/>
    <c:plotArea>
      <c:layout>
        <c:manualLayout>
          <c:layoutTarget val="inner"/>
          <c:xMode val="edge"/>
          <c:yMode val="edge"/>
          <c:x val="0.0789344879518072"/>
          <c:y val="0.212252475247525"/>
          <c:w val="0.729423945783133"/>
          <c:h val="0.589810231023102"/>
        </c:manualLayout>
      </c:layout>
      <c:barChart>
        <c:barDir val="col"/>
        <c:grouping val="clustered"/>
        <c:varyColors val="0"/>
        <c:ser>
          <c:idx val="0"/>
          <c:order val="0"/>
          <c:tx>
            <c:strRef>
              <c:f>'[employee_data.csv Sneha R Project.xlsx]Sheet1'!$B$3:$B$4</c:f>
              <c:strCache>
                <c:ptCount val="1"/>
                <c:pt idx="0">
                  <c:v>HIGH</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800" b="1"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linear"/>
            <c:dispRSqr val="0"/>
            <c:dispEq val="0"/>
          </c:trendline>
          <c:cat>
            <c:strRef>
              <c:f>'[employee_data.csv Sneha R Project.xlsx]Sheet1'!$A$5:$A$15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Project.xlsx]Sheet1'!$B$5:$B$15</c:f>
              <c:numCache>
                <c:formatCode>General</c:formatCode>
                <c:ptCount val="10"/>
                <c:pt idx="0">
                  <c:v>8</c:v>
                </c:pt>
                <c:pt idx="1">
                  <c:v>11</c:v>
                </c:pt>
                <c:pt idx="2">
                  <c:v>6</c:v>
                </c:pt>
                <c:pt idx="3">
                  <c:v>7</c:v>
                </c:pt>
                <c:pt idx="4">
                  <c:v>12</c:v>
                </c:pt>
                <c:pt idx="5">
                  <c:v>15</c:v>
                </c:pt>
                <c:pt idx="6">
                  <c:v>12</c:v>
                </c:pt>
                <c:pt idx="7">
                  <c:v>7</c:v>
                </c:pt>
                <c:pt idx="8">
                  <c:v>11</c:v>
                </c:pt>
                <c:pt idx="9">
                  <c:v>14</c:v>
                </c:pt>
              </c:numCache>
            </c:numRef>
          </c:val>
        </c:ser>
        <c:ser>
          <c:idx val="1"/>
          <c:order val="1"/>
          <c:tx>
            <c:strRef>
              <c:f>'[employee_data.csv Sneha R Project.xlsx]Sheet1'!$C$3:$C$4</c:f>
              <c:strCache>
                <c:ptCount val="1"/>
                <c:pt idx="0">
                  <c:v>LOW</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800" b="1"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'[employee_data.csv Sneha R Project.xlsx]Sheet1'!$A$5:$A$15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Project.xlsx]Sheet1'!$C$5:$C$15</c:f>
              <c:numCache>
                <c:formatCode>General</c:formatCode>
                <c:ptCount val="10"/>
                <c:pt idx="0">
                  <c:v>17</c:v>
                </c:pt>
                <c:pt idx="1">
                  <c:v>27</c:v>
                </c:pt>
                <c:pt idx="2">
                  <c:v>20</c:v>
                </c:pt>
                <c:pt idx="3">
                  <c:v>23</c:v>
                </c:pt>
                <c:pt idx="4">
                  <c:v>23</c:v>
                </c:pt>
                <c:pt idx="5">
                  <c:v>17</c:v>
                </c:pt>
                <c:pt idx="6">
                  <c:v>22</c:v>
                </c:pt>
                <c:pt idx="7">
                  <c:v>18</c:v>
                </c:pt>
                <c:pt idx="8">
                  <c:v>21</c:v>
                </c:pt>
                <c:pt idx="9">
                  <c:v>16</c:v>
                </c:pt>
              </c:numCache>
            </c:numRef>
          </c:val>
        </c:ser>
        <c:ser>
          <c:idx val="2"/>
          <c:order val="2"/>
          <c:tx>
            <c:strRef>
              <c:f>'[employee_data.csv Sneha R Project.xlsx]Sheet1'!$D$3:$D$4</c:f>
              <c:strCache>
                <c:ptCount val="1"/>
                <c:pt idx="0">
                  <c:v>MEDIUM</c:v>
                </c:pt>
              </c:strCache>
            </c:strRef>
          </c:tx>
          <c:spPr>
            <a:solidFill>
              <a:schemeClr val="accent3"/>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800" b="1"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3"/>
                </a:solidFill>
                <a:prstDash val="sysDot"/>
              </a:ln>
              <a:effectLst/>
            </c:spPr>
            <c:trendlineType val="exp"/>
            <c:dispRSqr val="0"/>
            <c:dispEq val="0"/>
          </c:trendline>
          <c:cat>
            <c:strRef>
              <c:f>'[employee_data.csv Sneha R Project.xlsx]Sheet1'!$A$5:$A$15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Project.xlsx]Sheet1'!$D$5:$D$15</c:f>
              <c:numCache>
                <c:formatCode>General</c:formatCode>
                <c:ptCount val="10"/>
                <c:pt idx="0">
                  <c:v>32</c:v>
                </c:pt>
                <c:pt idx="1">
                  <c:v>20</c:v>
                </c:pt>
                <c:pt idx="2">
                  <c:v>26</c:v>
                </c:pt>
                <c:pt idx="3">
                  <c:v>40</c:v>
                </c:pt>
                <c:pt idx="4">
                  <c:v>32</c:v>
                </c:pt>
                <c:pt idx="5">
                  <c:v>26</c:v>
                </c:pt>
                <c:pt idx="6">
                  <c:v>27</c:v>
                </c:pt>
                <c:pt idx="7">
                  <c:v>33</c:v>
                </c:pt>
                <c:pt idx="8">
                  <c:v>33</c:v>
                </c:pt>
                <c:pt idx="9">
                  <c:v>32</c:v>
                </c:pt>
              </c:numCache>
            </c:numRef>
          </c:val>
        </c:ser>
        <c:ser>
          <c:idx val="3"/>
          <c:order val="3"/>
          <c:tx>
            <c:strRef>
              <c:f>'[employee_data.csv Sneha R Project.xlsx]Sheet1'!$E$3:$E$4</c:f>
              <c:strCache>
                <c:ptCount val="1"/>
                <c:pt idx="0">
                  <c:v>VERY HIGH</c:v>
                </c:pt>
              </c:strCache>
            </c:strRef>
          </c:tx>
          <c:spPr>
            <a:solidFill>
              <a:schemeClr val="accent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800" b="1"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'[employee_data.csv Sneha R Project.xlsx]Sheet1'!$A$5:$A$15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Project.xlsx]Sheet1'!$E$5:$E$15</c:f>
              <c:numCache>
                <c:formatCode>General</c:formatCode>
                <c:ptCount val="10"/>
                <c:pt idx="0">
                  <c:v>5</c:v>
                </c:pt>
                <c:pt idx="1">
                  <c:v>6</c:v>
                </c:pt>
                <c:pt idx="2">
                  <c:v>6</c:v>
                </c:pt>
                <c:pt idx="3">
                  <c:v>5</c:v>
                </c:pt>
                <c:pt idx="4">
                  <c:v>8</c:v>
                </c:pt>
                <c:pt idx="5">
                  <c:v>5</c:v>
                </c:pt>
                <c:pt idx="6">
                  <c:v>10</c:v>
                </c:pt>
                <c:pt idx="7">
                  <c:v>5</c:v>
                </c:pt>
                <c:pt idx="8">
                  <c:v>4</c:v>
                </c:pt>
                <c:pt idx="9">
                  <c:v>6</c:v>
                </c:pt>
              </c:numCache>
            </c:numRef>
          </c:val>
        </c:ser>
        <c:dLbls>
          <c:showLegendKey val="0"/>
          <c:showVal val="1"/>
          <c:showCatName val="0"/>
          <c:showSerName val="0"/>
          <c:showPercent val="0"/>
          <c:showBubbleSize val="0"/>
        </c:dLbls>
        <c:gapWidth val="246"/>
        <c:overlap val="-28"/>
        <c:axId val="800850120"/>
        <c:axId val="907624391"/>
      </c:barChart>
      <c:catAx>
        <c:axId val="800850120"/>
        <c:scaling>
          <c:orientation val="minMax"/>
        </c:scaling>
        <c:delete val="0"/>
        <c:axPos val="b"/>
        <c:title>
          <c:tx>
            <c:rich>
              <a:bodyPr rot="0" spcFirstLastPara="0" vertOverflow="ellipsis" vert="horz" wrap="square" anchor="ctr" anchorCtr="1"/>
              <a:lstStyle/>
              <a:p>
                <a:pPr defTabSz="914400">
                  <a:defRPr lang="en-US" sz="800" b="1" i="0" u="none" strike="noStrike" kern="1200" baseline="0">
                    <a:solidFill>
                      <a:schemeClr val="tx1">
                        <a:lumMod val="65000"/>
                        <a:lumOff val="35000"/>
                      </a:schemeClr>
                    </a:solidFill>
                    <a:latin typeface="+mn-lt"/>
                    <a:ea typeface="+mn-ea"/>
                    <a:cs typeface="+mn-cs"/>
                  </a:defRPr>
                </a:pPr>
                <a:r>
                  <a:rPr sz="800" b="1"/>
                  <a:t>Business units</a:t>
                </a:r>
                <a:endParaRPr sz="800" b="1"/>
              </a:p>
            </c:rich>
          </c:tx>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p>
        </c:txPr>
        <c:crossAx val="907624391"/>
        <c:crosses val="autoZero"/>
        <c:auto val="1"/>
        <c:lblAlgn val="ctr"/>
        <c:lblOffset val="100"/>
        <c:noMultiLvlLbl val="0"/>
      </c:catAx>
      <c:valAx>
        <c:axId val="907624391"/>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en-US" sz="800" b="1" i="0" u="none" strike="noStrike" kern="1200" baseline="0">
                    <a:solidFill>
                      <a:schemeClr val="tx1">
                        <a:lumMod val="65000"/>
                        <a:lumOff val="35000"/>
                      </a:schemeClr>
                    </a:solidFill>
                    <a:latin typeface="+mn-lt"/>
                    <a:ea typeface="+mn-ea"/>
                    <a:cs typeface="+mn-cs"/>
                  </a:defRPr>
                </a:pPr>
                <a:r>
                  <a:rPr sz="800" b="1"/>
                  <a:t>Numbers of employee</a:t>
                </a:r>
                <a:endParaRPr sz="800" b="1"/>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p>
        </c:txPr>
        <c:crossAx val="800850120"/>
        <c:crosses val="autoZero"/>
        <c:crossBetween val="between"/>
      </c:valAx>
      <c:spPr>
        <a:noFill/>
        <a:ln>
          <a:noFill/>
        </a:ln>
        <a:effectLst/>
      </c:spPr>
    </c:plotArea>
    <c:legend>
      <c:legendPos val="r"/>
      <c:legendEntry>
        <c:idx val="0"/>
        <c:txPr>
          <a:bodyPr rot="0" spcFirstLastPara="0"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p>
        </c:txPr>
      </c:legendEntry>
      <c:legendEntry>
        <c:idx val="1"/>
        <c:txPr>
          <a:bodyPr rot="0" spcFirstLastPara="0"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p>
        </c:txPr>
      </c:legendEntry>
      <c:legendEntry>
        <c:idx val="2"/>
        <c:txPr>
          <a:bodyPr rot="0" spcFirstLastPara="0"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p>
        </c:txPr>
      </c:legendEntry>
      <c:legendEntry>
        <c:idx val="3"/>
        <c:txPr>
          <a:bodyPr rot="0" spcFirstLastPara="0"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p>
        </c:txPr>
      </c:legendEntry>
      <c:legendEntry>
        <c:idx val="4"/>
        <c:txPr>
          <a:bodyPr rot="0" spcFirstLastPara="0"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p>
        </c:txPr>
      </c:legendEntry>
      <c:legendEntry>
        <c:idx val="5"/>
        <c:txPr>
          <a:bodyPr rot="0" spcFirstLastPara="0"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p>
        </c:txPr>
      </c:legendEntry>
      <c:layout>
        <c:manualLayout>
          <c:xMode val="edge"/>
          <c:yMode val="edge"/>
          <c:x val="0.812876506024096"/>
          <c:y val="0.219884488448845"/>
          <c:w val="0.182605421686747"/>
          <c:h val="0.250412541254125"/>
        </c:manualLayout>
      </c:layout>
      <c:overlay val="0"/>
      <c:spPr>
        <a:noFill/>
        <a:ln>
          <a:noFill/>
        </a:ln>
        <a:effectLst/>
      </c:spPr>
      <c:txPr>
        <a:bodyPr rot="0" spcFirstLastPara="0"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ysClr val="window" lastClr="FFFFFF"/>
    </a:solidFill>
    <a:ln w="9525" cap="flat" cmpd="sng" algn="ctr">
      <a:solidFill>
        <a:schemeClr val="tx1">
          <a:lumMod val="15000"/>
          <a:lumOff val="85000"/>
        </a:schemeClr>
      </a:solidFill>
      <a:round/>
    </a:ln>
    <a:effectLst/>
  </c:spPr>
  <c:txPr>
    <a:bodyPr/>
    <a:lstStyle/>
    <a:p>
      <a:pPr>
        <a:defRPr lang="en-US" sz="800" b="1"/>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p>
      </c:txPr>
    </c:title>
    <c:autoTitleDeleted val="0"/>
    <c:view3D>
      <c:rotX val="30"/>
      <c:rotY val="0"/>
      <c:depthPercent val="100"/>
      <c:rAngAx val="0"/>
    </c:view3D>
    <c:floor>
      <c:thickness val="0"/>
      <c:spPr>
        <a:noFill/>
        <a:effectLst/>
      </c:spPr>
    </c:floor>
    <c:sideWall>
      <c:thickness val="0"/>
      <c:spPr>
        <a:noFill/>
        <a:effectLst/>
      </c:spPr>
    </c:sideWall>
    <c:backWall>
      <c:thickness val="0"/>
      <c:spPr>
        <a:noFill/>
        <a:effectLst/>
      </c:spPr>
    </c:backWall>
    <c:plotArea>
      <c:layout>
        <c:manualLayout>
          <c:layoutTarget val="inner"/>
          <c:xMode val="edge"/>
          <c:yMode val="edge"/>
          <c:x val="0.133684210526316"/>
          <c:y val="0.171296296296296"/>
          <c:w val="0.734210526315789"/>
          <c:h val="0.666666666666667"/>
        </c:manualLayout>
      </c:layout>
      <c:pie3DChart>
        <c:varyColors val="1"/>
        <c:ser>
          <c:idx val="0"/>
          <c:order val="0"/>
          <c:tx>
            <c:strRef>
              <c:f>'[employee_data.csv Sneha R Project.xlsx]Sheet2'!$B$39</c:f>
              <c:strCache>
                <c:ptCount val="1"/>
                <c:pt idx="0">
                  <c:v>VERY HIGH</c:v>
                </c:pt>
              </c:strCache>
            </c:strRef>
          </c:tx>
          <c:spPr>
            <a:scene3d>
              <a:camera prst="orthographicFront"/>
              <a:lightRig rig="threePt" dir="t"/>
            </a:scene3d>
            <a:sp3d contourW="9525"/>
          </c:spPr>
          <c:explosion val="0"/>
          <c:dPt>
            <c:idx val="0"/>
            <c:bubble3D val="0"/>
            <c:spPr>
              <a:solidFill>
                <a:schemeClr val="accent1"/>
              </a:solidFill>
              <a:ln>
                <a:solidFill>
                  <a:schemeClr val="bg1"/>
                </a:solidFill>
              </a:ln>
              <a:effectLst/>
              <a:scene3d>
                <a:camera prst="orthographicFront"/>
                <a:lightRig rig="threePt" dir="t"/>
              </a:scene3d>
              <a:sp3d contourW="9525"/>
            </c:spPr>
          </c:dPt>
          <c:dPt>
            <c:idx val="1"/>
            <c:bubble3D val="0"/>
            <c:spPr>
              <a:solidFill>
                <a:schemeClr val="accent2"/>
              </a:solidFill>
              <a:ln>
                <a:solidFill>
                  <a:schemeClr val="bg1"/>
                </a:solidFill>
              </a:ln>
              <a:effectLst/>
              <a:scene3d>
                <a:camera prst="orthographicFront"/>
                <a:lightRig rig="threePt" dir="t"/>
              </a:scene3d>
              <a:sp3d contourW="9525"/>
            </c:spPr>
          </c:dPt>
          <c:dPt>
            <c:idx val="2"/>
            <c:bubble3D val="0"/>
            <c:spPr>
              <a:solidFill>
                <a:schemeClr val="accent3"/>
              </a:solidFill>
              <a:ln>
                <a:solidFill>
                  <a:schemeClr val="bg1"/>
                </a:solidFill>
              </a:ln>
              <a:effectLst/>
              <a:scene3d>
                <a:camera prst="orthographicFront"/>
                <a:lightRig rig="threePt" dir="t"/>
              </a:scene3d>
              <a:sp3d contourW="9525"/>
            </c:spPr>
          </c:dPt>
          <c:dPt>
            <c:idx val="3"/>
            <c:bubble3D val="0"/>
            <c:spPr>
              <a:solidFill>
                <a:schemeClr val="accent4"/>
              </a:solidFill>
              <a:ln>
                <a:solidFill>
                  <a:schemeClr val="bg1"/>
                </a:solidFill>
              </a:ln>
              <a:effectLst/>
              <a:scene3d>
                <a:camera prst="orthographicFront"/>
                <a:lightRig rig="threePt" dir="t"/>
              </a:scene3d>
              <a:sp3d contourW="9525"/>
            </c:spPr>
          </c:dPt>
          <c:dPt>
            <c:idx val="4"/>
            <c:bubble3D val="0"/>
            <c:spPr>
              <a:solidFill>
                <a:schemeClr val="accent5"/>
              </a:solidFill>
              <a:ln>
                <a:solidFill>
                  <a:schemeClr val="bg1"/>
                </a:solidFill>
              </a:ln>
              <a:effectLst/>
              <a:scene3d>
                <a:camera prst="orthographicFront"/>
                <a:lightRig rig="threePt" dir="t"/>
              </a:scene3d>
              <a:sp3d contourW="9525"/>
            </c:spPr>
          </c:dPt>
          <c:dPt>
            <c:idx val="5"/>
            <c:bubble3D val="0"/>
            <c:spPr>
              <a:solidFill>
                <a:schemeClr val="accent6"/>
              </a:solidFill>
              <a:ln>
                <a:solidFill>
                  <a:schemeClr val="bg1"/>
                </a:solidFill>
              </a:ln>
              <a:effectLst/>
              <a:scene3d>
                <a:camera prst="orthographicFront"/>
                <a:lightRig rig="threePt" dir="t"/>
              </a:scene3d>
              <a:sp3d contourW="9525"/>
            </c:spPr>
          </c:dPt>
          <c:dPt>
            <c:idx val="6"/>
            <c:bubble3D val="0"/>
            <c:spPr>
              <a:solidFill>
                <a:schemeClr val="accent1">
                  <a:lumMod val="60000"/>
                </a:schemeClr>
              </a:solidFill>
              <a:ln>
                <a:solidFill>
                  <a:schemeClr val="bg1"/>
                </a:solidFill>
              </a:ln>
              <a:effectLst/>
              <a:scene3d>
                <a:camera prst="orthographicFront"/>
                <a:lightRig rig="threePt" dir="t"/>
              </a:scene3d>
              <a:sp3d contourW="9525"/>
            </c:spPr>
          </c:dPt>
          <c:dPt>
            <c:idx val="7"/>
            <c:bubble3D val="0"/>
            <c:spPr>
              <a:solidFill>
                <a:schemeClr val="accent2">
                  <a:lumMod val="60000"/>
                </a:schemeClr>
              </a:solidFill>
              <a:ln>
                <a:solidFill>
                  <a:schemeClr val="bg1"/>
                </a:solidFill>
              </a:ln>
              <a:effectLst/>
              <a:scene3d>
                <a:camera prst="orthographicFront"/>
                <a:lightRig rig="threePt" dir="t"/>
              </a:scene3d>
              <a:sp3d contourW="9525"/>
            </c:spPr>
          </c:dPt>
          <c:dPt>
            <c:idx val="8"/>
            <c:bubble3D val="0"/>
            <c:spPr>
              <a:solidFill>
                <a:schemeClr val="accent3">
                  <a:lumMod val="60000"/>
                </a:schemeClr>
              </a:solidFill>
              <a:ln>
                <a:solidFill>
                  <a:schemeClr val="bg1"/>
                </a:solidFill>
              </a:ln>
              <a:effectLst/>
              <a:scene3d>
                <a:camera prst="orthographicFront"/>
                <a:lightRig rig="threePt" dir="t"/>
              </a:scene3d>
              <a:sp3d contourW="9525"/>
            </c:spPr>
          </c:dPt>
          <c:dPt>
            <c:idx val="9"/>
            <c:bubble3D val="0"/>
            <c:spPr>
              <a:solidFill>
                <a:schemeClr val="accent4">
                  <a:lumMod val="60000"/>
                </a:schemeClr>
              </a:solidFill>
              <a:ln>
                <a:solidFill>
                  <a:schemeClr val="bg1"/>
                </a:solidFill>
              </a:ln>
              <a:effectLst/>
              <a:scene3d>
                <a:camera prst="orthographicFront"/>
                <a:lightRig rig="threePt" dir="t"/>
              </a:scene3d>
              <a:sp3d contourW="9525"/>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'[employee_data.csv Sneha R Project.xlsx]Sheet2'!$A$40:$A$49</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Project.xlsx]Sheet2'!$B$40:$B$49</c:f>
              <c:numCache>
                <c:formatCode>General</c:formatCode>
                <c:ptCount val="10"/>
                <c:pt idx="0">
                  <c:v>15</c:v>
                </c:pt>
                <c:pt idx="1">
                  <c:v>15</c:v>
                </c:pt>
                <c:pt idx="2">
                  <c:v>14</c:v>
                </c:pt>
                <c:pt idx="3">
                  <c:v>9</c:v>
                </c:pt>
                <c:pt idx="4">
                  <c:v>15</c:v>
                </c:pt>
                <c:pt idx="5">
                  <c:v>12</c:v>
                </c:pt>
                <c:pt idx="6">
                  <c:v>15</c:v>
                </c:pt>
                <c:pt idx="7">
                  <c:v>16</c:v>
                </c:pt>
                <c:pt idx="8">
                  <c:v>13</c:v>
                </c:pt>
                <c:pt idx="9">
                  <c:v>13</c:v>
                </c:pt>
              </c:numCache>
            </c:numRef>
          </c:val>
        </c:ser>
        <c:dLbls>
          <c:showLegendKey val="0"/>
          <c:showVal val="1"/>
          <c:showCatName val="0"/>
          <c:showSerName val="0"/>
          <c:showPercent val="0"/>
          <c:showBubbleSize val="0"/>
        </c:dLbls>
      </c:pie3DChart>
      <c:spPr>
        <a:noFill/>
        <a:ln>
          <a:noFill/>
        </a:ln>
        <a:effectLst/>
      </c:spPr>
    </c:plotArea>
    <c:legend>
      <c:legendPos val="t"/>
      <c:layout>
        <c:manualLayout>
          <c:xMode val="edge"/>
          <c:yMode val="edge"/>
          <c:x val="0.89"/>
          <c:y val="0.152777777777778"/>
          <c:w val="0.106052631578947"/>
          <c:h val="0.752777777777778"/>
        </c:manualLayou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[employee_data.csv Sneha R Project.xlsx]Sheet1!PivotTable1</c:name>
    <c:fmtId val="-1"/>
  </c:pivotSource>
  <c:chart>
    <c:title>
      <c:layout>
        <c:manualLayout>
          <c:xMode val="edge"/>
          <c:yMode val="edge"/>
          <c:x val="0.446381578947368"/>
          <c:y val="0.0472222202354007"/>
        </c:manualLayout>
      </c:layout>
      <c:overlay val="0"/>
      <c:spPr>
        <a:noFill/>
        <a:ln>
          <a:noFill/>
        </a:ln>
        <a:effectLst/>
      </c:spPr>
      <c:txPr>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p>
      </c:txPr>
    </c:title>
    <c:autoTitleDeleted val="0"/>
    <c:view3D>
      <c:rotX val="30"/>
      <c:rotY val="0"/>
      <c:depthPercent val="100"/>
      <c:rAngAx val="0"/>
    </c:view3D>
    <c:floor>
      <c:thickness val="0"/>
      <c:spPr>
        <a:noFill/>
        <a:effectLst/>
      </c:spPr>
    </c:floor>
    <c:sideWall>
      <c:thickness val="0"/>
      <c:spPr>
        <a:noFill/>
        <a:effectLst/>
      </c:spPr>
    </c:sideWall>
    <c:backWall>
      <c:thickness val="0"/>
      <c:spPr>
        <a:noFill/>
        <a:effectLst/>
      </c:spPr>
    </c:backWall>
    <c:plotArea>
      <c:layout>
        <c:manualLayout>
          <c:layoutTarget val="inner"/>
          <c:xMode val="edge"/>
          <c:yMode val="edge"/>
          <c:x val="0.0384210526315789"/>
          <c:y val="0.197222222222222"/>
          <c:w val="0.771052631578947"/>
          <c:h val="0.658333333333333"/>
        </c:manualLayout>
      </c:layout>
      <c:pie3DChart>
        <c:varyColors val="1"/>
        <c:ser>
          <c:idx val="0"/>
          <c:order val="0"/>
          <c:tx>
            <c:strRef>
              <c:f>'[employee_data.csv Sneha R Project.xlsx]Sheet1'!$B$3:$B$4</c:f>
              <c:strCache>
                <c:ptCount val="1"/>
                <c:pt idx="0">
                  <c:v>HIGH</c:v>
                </c:pt>
              </c:strCache>
            </c:strRef>
          </c:tx>
          <c:spPr>
            <a:scene3d>
              <a:camera prst="orthographicFront"/>
              <a:lightRig rig="threePt" dir="t"/>
            </a:scene3d>
            <a:sp3d contourW="9525"/>
          </c:spPr>
          <c:explosion val="0"/>
          <c:dPt>
            <c:idx val="0"/>
            <c:bubble3D val="0"/>
            <c:spPr>
              <a:solidFill>
                <a:schemeClr val="accent1"/>
              </a:solidFill>
              <a:ln>
                <a:solidFill>
                  <a:schemeClr val="bg1"/>
                </a:solidFill>
              </a:ln>
              <a:effectLst/>
              <a:scene3d>
                <a:camera prst="orthographicFront"/>
                <a:lightRig rig="threePt" dir="t"/>
              </a:scene3d>
              <a:sp3d contourW="9525"/>
            </c:spPr>
          </c:dPt>
          <c:dPt>
            <c:idx val="1"/>
            <c:bubble3D val="0"/>
            <c:spPr>
              <a:solidFill>
                <a:schemeClr val="accent2"/>
              </a:solidFill>
              <a:ln>
                <a:solidFill>
                  <a:schemeClr val="bg1"/>
                </a:solidFill>
              </a:ln>
              <a:effectLst/>
              <a:scene3d>
                <a:camera prst="orthographicFront"/>
                <a:lightRig rig="threePt" dir="t"/>
              </a:scene3d>
              <a:sp3d contourW="9525"/>
            </c:spPr>
          </c:dPt>
          <c:dPt>
            <c:idx val="2"/>
            <c:bubble3D val="0"/>
            <c:spPr>
              <a:solidFill>
                <a:schemeClr val="accent3"/>
              </a:solidFill>
              <a:ln>
                <a:solidFill>
                  <a:schemeClr val="bg1"/>
                </a:solidFill>
              </a:ln>
              <a:effectLst/>
              <a:scene3d>
                <a:camera prst="orthographicFront"/>
                <a:lightRig rig="threePt" dir="t"/>
              </a:scene3d>
              <a:sp3d contourW="9525"/>
            </c:spPr>
          </c:dPt>
          <c:dPt>
            <c:idx val="3"/>
            <c:bubble3D val="0"/>
            <c:spPr>
              <a:solidFill>
                <a:schemeClr val="accent4"/>
              </a:solidFill>
              <a:ln>
                <a:solidFill>
                  <a:schemeClr val="bg1"/>
                </a:solidFill>
              </a:ln>
              <a:effectLst/>
              <a:scene3d>
                <a:camera prst="orthographicFront"/>
                <a:lightRig rig="threePt" dir="t"/>
              </a:scene3d>
              <a:sp3d contourW="9525"/>
            </c:spPr>
          </c:dPt>
          <c:dPt>
            <c:idx val="4"/>
            <c:bubble3D val="0"/>
            <c:spPr>
              <a:solidFill>
                <a:schemeClr val="accent5"/>
              </a:solidFill>
              <a:ln>
                <a:solidFill>
                  <a:schemeClr val="bg1"/>
                </a:solidFill>
              </a:ln>
              <a:effectLst/>
              <a:scene3d>
                <a:camera prst="orthographicFront"/>
                <a:lightRig rig="threePt" dir="t"/>
              </a:scene3d>
              <a:sp3d contourW="9525"/>
            </c:spPr>
          </c:dPt>
          <c:dPt>
            <c:idx val="5"/>
            <c:bubble3D val="0"/>
            <c:spPr>
              <a:solidFill>
                <a:schemeClr val="accent6"/>
              </a:solidFill>
              <a:ln>
                <a:solidFill>
                  <a:schemeClr val="bg1"/>
                </a:solidFill>
              </a:ln>
              <a:effectLst/>
              <a:scene3d>
                <a:camera prst="orthographicFront"/>
                <a:lightRig rig="threePt" dir="t"/>
              </a:scene3d>
              <a:sp3d contourW="9525"/>
            </c:spPr>
          </c:dPt>
          <c:dPt>
            <c:idx val="6"/>
            <c:bubble3D val="0"/>
            <c:spPr>
              <a:solidFill>
                <a:schemeClr val="accent1">
                  <a:lumMod val="60000"/>
                </a:schemeClr>
              </a:solidFill>
              <a:ln>
                <a:solidFill>
                  <a:schemeClr val="bg1"/>
                </a:solidFill>
              </a:ln>
              <a:effectLst/>
              <a:scene3d>
                <a:camera prst="orthographicFront"/>
                <a:lightRig rig="threePt" dir="t"/>
              </a:scene3d>
              <a:sp3d contourW="9525"/>
            </c:spPr>
          </c:dPt>
          <c:dPt>
            <c:idx val="7"/>
            <c:bubble3D val="0"/>
            <c:spPr>
              <a:solidFill>
                <a:schemeClr val="accent2">
                  <a:lumMod val="60000"/>
                </a:schemeClr>
              </a:solidFill>
              <a:ln>
                <a:solidFill>
                  <a:schemeClr val="bg1"/>
                </a:solidFill>
              </a:ln>
              <a:effectLst/>
              <a:scene3d>
                <a:camera prst="orthographicFront"/>
                <a:lightRig rig="threePt" dir="t"/>
              </a:scene3d>
              <a:sp3d contourW="9525"/>
            </c:spPr>
          </c:dPt>
          <c:dPt>
            <c:idx val="8"/>
            <c:bubble3D val="0"/>
            <c:spPr>
              <a:solidFill>
                <a:schemeClr val="accent3">
                  <a:lumMod val="60000"/>
                </a:schemeClr>
              </a:solidFill>
              <a:ln>
                <a:solidFill>
                  <a:schemeClr val="bg1"/>
                </a:solidFill>
              </a:ln>
              <a:effectLst/>
              <a:scene3d>
                <a:camera prst="orthographicFront"/>
                <a:lightRig rig="threePt" dir="t"/>
              </a:scene3d>
              <a:sp3d contourW="9525"/>
            </c:spPr>
          </c:dPt>
          <c:dPt>
            <c:idx val="9"/>
            <c:bubble3D val="0"/>
            <c:spPr>
              <a:solidFill>
                <a:schemeClr val="accent4">
                  <a:lumMod val="60000"/>
                </a:schemeClr>
              </a:solidFill>
              <a:ln>
                <a:solidFill>
                  <a:schemeClr val="bg1"/>
                </a:solidFill>
              </a:ln>
              <a:effectLst/>
              <a:scene3d>
                <a:camera prst="orthographicFront"/>
                <a:lightRig rig="threePt" dir="t"/>
              </a:scene3d>
              <a:sp3d contourW="9525"/>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'[employee_data.csv Sneha R Project.xlsx]Sheet1'!$A$5:$A$15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Project.xlsx]Sheet1'!$B$5:$B$15</c:f>
              <c:numCache>
                <c:formatCode>General</c:formatCode>
                <c:ptCount val="10"/>
                <c:pt idx="0">
                  <c:v>16</c:v>
                </c:pt>
                <c:pt idx="1">
                  <c:v>18</c:v>
                </c:pt>
                <c:pt idx="2">
                  <c:v>21</c:v>
                </c:pt>
                <c:pt idx="3">
                  <c:v>17</c:v>
                </c:pt>
                <c:pt idx="4">
                  <c:v>21</c:v>
                </c:pt>
                <c:pt idx="5">
                  <c:v>29</c:v>
                </c:pt>
                <c:pt idx="6">
                  <c:v>26</c:v>
                </c:pt>
                <c:pt idx="7">
                  <c:v>26</c:v>
                </c:pt>
                <c:pt idx="8">
                  <c:v>21</c:v>
                </c:pt>
                <c:pt idx="9">
                  <c:v>25</c:v>
                </c:pt>
              </c:numCache>
            </c:numRef>
          </c:val>
        </c:ser>
        <c:ser>
          <c:idx val="1"/>
          <c:order val="1"/>
          <c:tx>
            <c:strRef>
              <c:f>'[employee_data.csv Sneha R Project.xlsx]Sheet1'!$C$3:$C$4</c:f>
              <c:strCache>
                <c:ptCount val="1"/>
                <c:pt idx="0">
                  <c:v>LOW</c:v>
                </c:pt>
              </c:strCache>
            </c:strRef>
          </c:tx>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Pt>
            <c:idx val="3"/>
            <c:bubble3D val="0"/>
            <c:spPr>
              <a:solidFill>
                <a:schemeClr val="accent4"/>
              </a:solidFill>
              <a:ln>
                <a:solidFill>
                  <a:schemeClr val="bg1"/>
                </a:solidFill>
              </a:ln>
              <a:effectLst/>
            </c:spPr>
          </c:dPt>
          <c:dPt>
            <c:idx val="4"/>
            <c:bubble3D val="0"/>
            <c:spPr>
              <a:solidFill>
                <a:schemeClr val="accent5"/>
              </a:solidFill>
              <a:ln>
                <a:solidFill>
                  <a:schemeClr val="bg1"/>
                </a:solidFill>
              </a:ln>
              <a:effectLst/>
            </c:spPr>
          </c:dPt>
          <c:dPt>
            <c:idx val="5"/>
            <c:bubble3D val="0"/>
            <c:spPr>
              <a:solidFill>
                <a:schemeClr val="accent6"/>
              </a:solidFill>
              <a:ln>
                <a:solidFill>
                  <a:schemeClr val="bg1"/>
                </a:solidFill>
              </a:ln>
              <a:effectLst/>
            </c:spPr>
          </c:dPt>
          <c:dPt>
            <c:idx val="6"/>
            <c:bubble3D val="0"/>
            <c:spPr>
              <a:solidFill>
                <a:schemeClr val="accent1">
                  <a:lumMod val="60000"/>
                </a:schemeClr>
              </a:solidFill>
              <a:ln>
                <a:solidFill>
                  <a:schemeClr val="bg1"/>
                </a:solidFill>
              </a:ln>
              <a:effectLst/>
            </c:spPr>
          </c:dPt>
          <c:dPt>
            <c:idx val="7"/>
            <c:bubble3D val="0"/>
            <c:spPr>
              <a:solidFill>
                <a:schemeClr val="accent2">
                  <a:lumMod val="60000"/>
                </a:schemeClr>
              </a:solidFill>
              <a:ln>
                <a:solidFill>
                  <a:schemeClr val="bg1"/>
                </a:solidFill>
              </a:ln>
              <a:effectLst/>
            </c:spPr>
          </c:dPt>
          <c:dPt>
            <c:idx val="8"/>
            <c:bubble3D val="0"/>
            <c:spPr>
              <a:solidFill>
                <a:schemeClr val="accent3">
                  <a:lumMod val="60000"/>
                </a:schemeClr>
              </a:solidFill>
              <a:ln>
                <a:solidFill>
                  <a:schemeClr val="bg1"/>
                </a:solidFill>
              </a:ln>
              <a:effectLst/>
            </c:spPr>
          </c:dPt>
          <c:dPt>
            <c:idx val="9"/>
            <c:bubble3D val="0"/>
            <c:spPr>
              <a:solidFill>
                <a:schemeClr val="accent4">
                  <a:lumMod val="60000"/>
                </a:schemeClr>
              </a:solidFill>
              <a:ln>
                <a:solidFill>
                  <a:schemeClr val="bg1"/>
                </a:solidFill>
              </a:ln>
              <a:effectLst/>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'[employee_data.csv Sneha R Project.xlsx]Sheet1'!$A$5:$A$15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Project.xlsx]Sheet1'!$C$5:$C$15</c:f>
              <c:numCache>
                <c:formatCode>General</c:formatCode>
                <c:ptCount val="10"/>
                <c:pt idx="0">
                  <c:v>34</c:v>
                </c:pt>
                <c:pt idx="1">
                  <c:v>47</c:v>
                </c:pt>
                <c:pt idx="2">
                  <c:v>41</c:v>
                </c:pt>
                <c:pt idx="3">
                  <c:v>39</c:v>
                </c:pt>
                <c:pt idx="4">
                  <c:v>41</c:v>
                </c:pt>
                <c:pt idx="5">
                  <c:v>33</c:v>
                </c:pt>
                <c:pt idx="6">
                  <c:v>41</c:v>
                </c:pt>
                <c:pt idx="7">
                  <c:v>43</c:v>
                </c:pt>
                <c:pt idx="8">
                  <c:v>45</c:v>
                </c:pt>
                <c:pt idx="9">
                  <c:v>34</c:v>
                </c:pt>
              </c:numCache>
            </c:numRef>
          </c:val>
        </c:ser>
        <c:ser>
          <c:idx val="2"/>
          <c:order val="2"/>
          <c:tx>
            <c:strRef>
              <c:f>'[employee_data.csv Sneha R Project.xlsx]Sheet1'!$D$3:$D$4</c:f>
              <c:strCache>
                <c:ptCount val="1"/>
                <c:pt idx="0">
                  <c:v>MEDIUM</c:v>
                </c:pt>
              </c:strCache>
            </c:strRef>
          </c:tx>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Pt>
            <c:idx val="3"/>
            <c:bubble3D val="0"/>
            <c:spPr>
              <a:solidFill>
                <a:schemeClr val="accent4"/>
              </a:solidFill>
              <a:ln>
                <a:solidFill>
                  <a:schemeClr val="bg1"/>
                </a:solidFill>
              </a:ln>
              <a:effectLst/>
            </c:spPr>
          </c:dPt>
          <c:dPt>
            <c:idx val="4"/>
            <c:bubble3D val="0"/>
            <c:spPr>
              <a:solidFill>
                <a:schemeClr val="accent5"/>
              </a:solidFill>
              <a:ln>
                <a:solidFill>
                  <a:schemeClr val="bg1"/>
                </a:solidFill>
              </a:ln>
              <a:effectLst/>
            </c:spPr>
          </c:dPt>
          <c:dPt>
            <c:idx val="5"/>
            <c:bubble3D val="0"/>
            <c:spPr>
              <a:solidFill>
                <a:schemeClr val="accent6"/>
              </a:solidFill>
              <a:ln>
                <a:solidFill>
                  <a:schemeClr val="bg1"/>
                </a:solidFill>
              </a:ln>
              <a:effectLst/>
            </c:spPr>
          </c:dPt>
          <c:dPt>
            <c:idx val="6"/>
            <c:bubble3D val="0"/>
            <c:spPr>
              <a:solidFill>
                <a:schemeClr val="accent1">
                  <a:lumMod val="60000"/>
                </a:schemeClr>
              </a:solidFill>
              <a:ln>
                <a:solidFill>
                  <a:schemeClr val="bg1"/>
                </a:solidFill>
              </a:ln>
              <a:effectLst/>
            </c:spPr>
          </c:dPt>
          <c:dPt>
            <c:idx val="7"/>
            <c:bubble3D val="0"/>
            <c:spPr>
              <a:solidFill>
                <a:schemeClr val="accent2">
                  <a:lumMod val="60000"/>
                </a:schemeClr>
              </a:solidFill>
              <a:ln>
                <a:solidFill>
                  <a:schemeClr val="bg1"/>
                </a:solidFill>
              </a:ln>
              <a:effectLst/>
            </c:spPr>
          </c:dPt>
          <c:dPt>
            <c:idx val="8"/>
            <c:bubble3D val="0"/>
            <c:spPr>
              <a:solidFill>
                <a:schemeClr val="accent3">
                  <a:lumMod val="60000"/>
                </a:schemeClr>
              </a:solidFill>
              <a:ln>
                <a:solidFill>
                  <a:schemeClr val="bg1"/>
                </a:solidFill>
              </a:ln>
              <a:effectLst/>
            </c:spPr>
          </c:dPt>
          <c:dPt>
            <c:idx val="9"/>
            <c:bubble3D val="0"/>
            <c:spPr>
              <a:solidFill>
                <a:schemeClr val="accent4">
                  <a:lumMod val="60000"/>
                </a:schemeClr>
              </a:solidFill>
              <a:ln>
                <a:solidFill>
                  <a:schemeClr val="bg1"/>
                </a:solidFill>
              </a:ln>
              <a:effectLst/>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'[employee_data.csv Sneha R Project.xlsx]Sheet1'!$A$5:$A$15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Project.xlsx]Sheet1'!$D$5:$D$15</c:f>
              <c:numCache>
                <c:formatCode>General</c:formatCode>
                <c:ptCount val="10"/>
                <c:pt idx="0">
                  <c:v>85</c:v>
                </c:pt>
                <c:pt idx="1">
                  <c:v>65</c:v>
                </c:pt>
                <c:pt idx="2">
                  <c:v>78</c:v>
                </c:pt>
                <c:pt idx="3">
                  <c:v>92</c:v>
                </c:pt>
                <c:pt idx="4">
                  <c:v>77</c:v>
                </c:pt>
                <c:pt idx="5">
                  <c:v>69</c:v>
                </c:pt>
                <c:pt idx="6">
                  <c:v>75</c:v>
                </c:pt>
                <c:pt idx="7">
                  <c:v>82</c:v>
                </c:pt>
                <c:pt idx="8">
                  <c:v>71</c:v>
                </c:pt>
                <c:pt idx="9">
                  <c:v>84</c:v>
                </c:pt>
              </c:numCache>
            </c:numRef>
          </c:val>
        </c:ser>
        <c:ser>
          <c:idx val="3"/>
          <c:order val="3"/>
          <c:tx>
            <c:strRef>
              <c:f>'[employee_data.csv Sneha R Project.xlsx]Sheet1'!$E$3:$E$4</c:f>
              <c:strCache>
                <c:ptCount val="1"/>
                <c:pt idx="0">
                  <c:v>VERY HIGH</c:v>
                </c:pt>
              </c:strCache>
            </c:strRef>
          </c:tx>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Pt>
            <c:idx val="3"/>
            <c:bubble3D val="0"/>
            <c:spPr>
              <a:solidFill>
                <a:schemeClr val="accent4"/>
              </a:solidFill>
              <a:ln>
                <a:solidFill>
                  <a:schemeClr val="bg1"/>
                </a:solidFill>
              </a:ln>
              <a:effectLst/>
            </c:spPr>
          </c:dPt>
          <c:dPt>
            <c:idx val="4"/>
            <c:bubble3D val="0"/>
            <c:spPr>
              <a:solidFill>
                <a:schemeClr val="accent5"/>
              </a:solidFill>
              <a:ln>
                <a:solidFill>
                  <a:schemeClr val="bg1"/>
                </a:solidFill>
              </a:ln>
              <a:effectLst/>
            </c:spPr>
          </c:dPt>
          <c:dPt>
            <c:idx val="5"/>
            <c:bubble3D val="0"/>
            <c:spPr>
              <a:solidFill>
                <a:schemeClr val="accent6"/>
              </a:solidFill>
              <a:ln>
                <a:solidFill>
                  <a:schemeClr val="bg1"/>
                </a:solidFill>
              </a:ln>
              <a:effectLst/>
            </c:spPr>
          </c:dPt>
          <c:dPt>
            <c:idx val="6"/>
            <c:bubble3D val="0"/>
            <c:spPr>
              <a:solidFill>
                <a:schemeClr val="accent1">
                  <a:lumMod val="60000"/>
                </a:schemeClr>
              </a:solidFill>
              <a:ln>
                <a:solidFill>
                  <a:schemeClr val="bg1"/>
                </a:solidFill>
              </a:ln>
              <a:effectLst/>
            </c:spPr>
          </c:dPt>
          <c:dPt>
            <c:idx val="7"/>
            <c:bubble3D val="0"/>
            <c:spPr>
              <a:solidFill>
                <a:schemeClr val="accent2">
                  <a:lumMod val="60000"/>
                </a:schemeClr>
              </a:solidFill>
              <a:ln>
                <a:solidFill>
                  <a:schemeClr val="bg1"/>
                </a:solidFill>
              </a:ln>
              <a:effectLst/>
            </c:spPr>
          </c:dPt>
          <c:dPt>
            <c:idx val="8"/>
            <c:bubble3D val="0"/>
            <c:spPr>
              <a:solidFill>
                <a:schemeClr val="accent3">
                  <a:lumMod val="60000"/>
                </a:schemeClr>
              </a:solidFill>
              <a:ln>
                <a:solidFill>
                  <a:schemeClr val="bg1"/>
                </a:solidFill>
              </a:ln>
              <a:effectLst/>
            </c:spPr>
          </c:dPt>
          <c:dPt>
            <c:idx val="9"/>
            <c:bubble3D val="0"/>
            <c:spPr>
              <a:solidFill>
                <a:schemeClr val="accent4">
                  <a:lumMod val="60000"/>
                </a:schemeClr>
              </a:solidFill>
              <a:ln>
                <a:solidFill>
                  <a:schemeClr val="bg1"/>
                </a:solidFill>
              </a:ln>
              <a:effectLst/>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'[employee_data.csv Sneha R Project.xlsx]Sheet1'!$A$5:$A$15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Project.xlsx]Sheet1'!$E$5:$E$15</c:f>
              <c:numCache>
                <c:formatCode>General</c:formatCode>
                <c:ptCount val="10"/>
                <c:pt idx="0">
                  <c:v>15</c:v>
                </c:pt>
                <c:pt idx="1">
                  <c:v>15</c:v>
                </c:pt>
                <c:pt idx="2">
                  <c:v>14</c:v>
                </c:pt>
                <c:pt idx="3">
                  <c:v>9</c:v>
                </c:pt>
                <c:pt idx="4">
                  <c:v>15</c:v>
                </c:pt>
                <c:pt idx="5">
                  <c:v>12</c:v>
                </c:pt>
                <c:pt idx="6">
                  <c:v>15</c:v>
                </c:pt>
                <c:pt idx="7">
                  <c:v>16</c:v>
                </c:pt>
                <c:pt idx="8">
                  <c:v>13</c:v>
                </c:pt>
                <c:pt idx="9">
                  <c:v>13</c:v>
                </c:pt>
              </c:numCache>
            </c:numRef>
          </c:val>
        </c:ser>
        <c:dLbls>
          <c:showLegendKey val="0"/>
          <c:showVal val="1"/>
          <c:showCatName val="0"/>
          <c:showSerName val="0"/>
          <c:showPercent val="0"/>
          <c:showBubbleSize val="0"/>
        </c:dLbls>
      </c:pie3DChart>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p>
      </c:txPr>
    </c:title>
    <c:autoTitleDeleted val="0"/>
    <c:view3D>
      <c:rotX val="30"/>
      <c:rotY val="0"/>
      <c:depthPercent val="100"/>
      <c:rAngAx val="0"/>
    </c:view3D>
    <c:floor>
      <c:thickness val="0"/>
      <c:spPr>
        <a:noFill/>
        <a:effectLst/>
      </c:spPr>
    </c:floor>
    <c:sideWall>
      <c:thickness val="0"/>
      <c:spPr>
        <a:noFill/>
        <a:effectLst/>
      </c:spPr>
    </c:sideWall>
    <c:backWall>
      <c:thickness val="0"/>
      <c:spPr>
        <a:noFill/>
        <a:effectLst/>
      </c:spPr>
    </c:backWall>
    <c:plotArea>
      <c:layout>
        <c:manualLayout>
          <c:layoutTarget val="inner"/>
          <c:xMode val="edge"/>
          <c:yMode val="edge"/>
          <c:x val="0.152631578947368"/>
          <c:y val="0.193518518518519"/>
          <c:w val="0.693157894736842"/>
          <c:h val="0.666666666666667"/>
        </c:manualLayout>
      </c:layout>
      <c:pie3DChart>
        <c:varyColors val="1"/>
        <c:ser>
          <c:idx val="0"/>
          <c:order val="0"/>
          <c:tx>
            <c:strRef>
              <c:f>'[employee_data.csv Sneha R Project.xlsx]Sheet2'!$B$22</c:f>
              <c:strCache>
                <c:ptCount val="1"/>
                <c:pt idx="0">
                  <c:v>MEDIUM</c:v>
                </c:pt>
              </c:strCache>
            </c:strRef>
          </c:tx>
          <c:spPr>
            <a:scene3d>
              <a:camera prst="orthographicFront"/>
              <a:lightRig rig="threePt" dir="t"/>
            </a:scene3d>
            <a:sp3d contourW="9525"/>
          </c:spPr>
          <c:explosion val="0"/>
          <c:dPt>
            <c:idx val="0"/>
            <c:bubble3D val="0"/>
            <c:spPr>
              <a:solidFill>
                <a:schemeClr val="accent1"/>
              </a:solidFill>
              <a:ln>
                <a:solidFill>
                  <a:schemeClr val="bg1"/>
                </a:solidFill>
              </a:ln>
              <a:effectLst/>
              <a:scene3d>
                <a:camera prst="orthographicFront"/>
                <a:lightRig rig="threePt" dir="t"/>
              </a:scene3d>
              <a:sp3d contourW="9525"/>
            </c:spPr>
          </c:dPt>
          <c:dPt>
            <c:idx val="1"/>
            <c:bubble3D val="0"/>
            <c:spPr>
              <a:solidFill>
                <a:schemeClr val="accent2"/>
              </a:solidFill>
              <a:ln>
                <a:solidFill>
                  <a:schemeClr val="bg1"/>
                </a:solidFill>
              </a:ln>
              <a:effectLst/>
              <a:scene3d>
                <a:camera prst="orthographicFront"/>
                <a:lightRig rig="threePt" dir="t"/>
              </a:scene3d>
              <a:sp3d contourW="9525"/>
            </c:spPr>
          </c:dPt>
          <c:dPt>
            <c:idx val="2"/>
            <c:bubble3D val="0"/>
            <c:spPr>
              <a:solidFill>
                <a:schemeClr val="accent3"/>
              </a:solidFill>
              <a:ln>
                <a:solidFill>
                  <a:schemeClr val="bg1"/>
                </a:solidFill>
              </a:ln>
              <a:effectLst/>
              <a:scene3d>
                <a:camera prst="orthographicFront"/>
                <a:lightRig rig="threePt" dir="t"/>
              </a:scene3d>
              <a:sp3d contourW="9525"/>
            </c:spPr>
          </c:dPt>
          <c:dPt>
            <c:idx val="3"/>
            <c:bubble3D val="0"/>
            <c:spPr>
              <a:solidFill>
                <a:schemeClr val="accent4"/>
              </a:solidFill>
              <a:ln>
                <a:solidFill>
                  <a:schemeClr val="bg1"/>
                </a:solidFill>
              </a:ln>
              <a:effectLst/>
              <a:scene3d>
                <a:camera prst="orthographicFront"/>
                <a:lightRig rig="threePt" dir="t"/>
              </a:scene3d>
              <a:sp3d contourW="9525"/>
            </c:spPr>
          </c:dPt>
          <c:dPt>
            <c:idx val="4"/>
            <c:bubble3D val="0"/>
            <c:spPr>
              <a:solidFill>
                <a:schemeClr val="accent5"/>
              </a:solidFill>
              <a:ln>
                <a:solidFill>
                  <a:schemeClr val="bg1"/>
                </a:solidFill>
              </a:ln>
              <a:effectLst/>
              <a:scene3d>
                <a:camera prst="orthographicFront"/>
                <a:lightRig rig="threePt" dir="t"/>
              </a:scene3d>
              <a:sp3d contourW="9525"/>
            </c:spPr>
          </c:dPt>
          <c:dPt>
            <c:idx val="5"/>
            <c:bubble3D val="0"/>
            <c:spPr>
              <a:solidFill>
                <a:schemeClr val="accent6"/>
              </a:solidFill>
              <a:ln>
                <a:solidFill>
                  <a:schemeClr val="bg1"/>
                </a:solidFill>
              </a:ln>
              <a:effectLst/>
              <a:scene3d>
                <a:camera prst="orthographicFront"/>
                <a:lightRig rig="threePt" dir="t"/>
              </a:scene3d>
              <a:sp3d contourW="9525"/>
            </c:spPr>
          </c:dPt>
          <c:dPt>
            <c:idx val="6"/>
            <c:bubble3D val="0"/>
            <c:spPr>
              <a:solidFill>
                <a:schemeClr val="accent1">
                  <a:lumMod val="60000"/>
                </a:schemeClr>
              </a:solidFill>
              <a:ln>
                <a:solidFill>
                  <a:schemeClr val="bg1"/>
                </a:solidFill>
              </a:ln>
              <a:effectLst/>
              <a:scene3d>
                <a:camera prst="orthographicFront"/>
                <a:lightRig rig="threePt" dir="t"/>
              </a:scene3d>
              <a:sp3d contourW="9525"/>
            </c:spPr>
          </c:dPt>
          <c:dPt>
            <c:idx val="7"/>
            <c:bubble3D val="0"/>
            <c:spPr>
              <a:solidFill>
                <a:schemeClr val="accent2">
                  <a:lumMod val="60000"/>
                </a:schemeClr>
              </a:solidFill>
              <a:ln>
                <a:solidFill>
                  <a:schemeClr val="bg1"/>
                </a:solidFill>
              </a:ln>
              <a:effectLst/>
              <a:scene3d>
                <a:camera prst="orthographicFront"/>
                <a:lightRig rig="threePt" dir="t"/>
              </a:scene3d>
              <a:sp3d contourW="9525"/>
            </c:spPr>
          </c:dPt>
          <c:dPt>
            <c:idx val="8"/>
            <c:bubble3D val="0"/>
            <c:spPr>
              <a:solidFill>
                <a:schemeClr val="accent3">
                  <a:lumMod val="60000"/>
                </a:schemeClr>
              </a:solidFill>
              <a:ln>
                <a:solidFill>
                  <a:schemeClr val="bg1"/>
                </a:solidFill>
              </a:ln>
              <a:effectLst/>
              <a:scene3d>
                <a:camera prst="orthographicFront"/>
                <a:lightRig rig="threePt" dir="t"/>
              </a:scene3d>
              <a:sp3d contourW="9525"/>
            </c:spPr>
          </c:dPt>
          <c:dPt>
            <c:idx val="9"/>
            <c:bubble3D val="0"/>
            <c:spPr>
              <a:solidFill>
                <a:schemeClr val="accent4">
                  <a:lumMod val="60000"/>
                </a:schemeClr>
              </a:solidFill>
              <a:ln>
                <a:solidFill>
                  <a:schemeClr val="bg1"/>
                </a:solidFill>
              </a:ln>
              <a:effectLst/>
              <a:scene3d>
                <a:camera prst="orthographicFront"/>
                <a:lightRig rig="threePt" dir="t"/>
              </a:scene3d>
              <a:sp3d contourW="9525"/>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'[employee_data.csv Sneha R Project.xlsx]Sheet2'!$A$23:$A$32</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Project.xlsx]Sheet2'!$B$23:$B$32</c:f>
              <c:numCache>
                <c:formatCode>General</c:formatCode>
                <c:ptCount val="10"/>
                <c:pt idx="0">
                  <c:v>85</c:v>
                </c:pt>
                <c:pt idx="1">
                  <c:v>65</c:v>
                </c:pt>
                <c:pt idx="2">
                  <c:v>78</c:v>
                </c:pt>
                <c:pt idx="3">
                  <c:v>92</c:v>
                </c:pt>
                <c:pt idx="4">
                  <c:v>77</c:v>
                </c:pt>
                <c:pt idx="5">
                  <c:v>69</c:v>
                </c:pt>
                <c:pt idx="6">
                  <c:v>75</c:v>
                </c:pt>
                <c:pt idx="7">
                  <c:v>82</c:v>
                </c:pt>
                <c:pt idx="8">
                  <c:v>71</c:v>
                </c:pt>
                <c:pt idx="9">
                  <c:v>84</c:v>
                </c:pt>
              </c:numCache>
            </c:numRef>
          </c:val>
        </c:ser>
        <c:dLbls>
          <c:showLegendKey val="0"/>
          <c:showVal val="1"/>
          <c:showCatName val="0"/>
          <c:showSerName val="0"/>
          <c:showPercent val="0"/>
          <c:showBubbleSize val="0"/>
        </c:dLbls>
      </c:pie3DChart>
      <c:spPr>
        <a:noFill/>
        <a:ln>
          <a:noFill/>
        </a:ln>
        <a:effectLst/>
      </c:spPr>
    </c:plotArea>
    <c:legend>
      <c:legendPos val="t"/>
      <c:layout>
        <c:manualLayout>
          <c:xMode val="edge"/>
          <c:yMode val="edge"/>
          <c:x val="0.845789473684211"/>
          <c:y val="0.144444444444444"/>
          <c:w val="0.107894736842105"/>
          <c:h val="0.736111111111111"/>
        </c:manualLayou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p>
      </c:txPr>
    </c:title>
    <c:autoTitleDeleted val="0"/>
    <c:view3D>
      <c:rotX val="30"/>
      <c:rotY val="0"/>
      <c:depthPercent val="100"/>
      <c:rAngAx val="0"/>
    </c:view3D>
    <c:floor>
      <c:thickness val="0"/>
      <c:spPr>
        <a:noFill/>
        <a:effectLst/>
      </c:spPr>
    </c:floor>
    <c:sideWall>
      <c:thickness val="0"/>
      <c:spPr>
        <a:noFill/>
        <a:effectLst/>
      </c:spPr>
    </c:sideWall>
    <c:backWall>
      <c:thickness val="0"/>
      <c:spPr>
        <a:noFill/>
        <a:effectLst/>
      </c:spPr>
    </c:backWall>
    <c:plotArea>
      <c:layout>
        <c:manualLayout>
          <c:layoutTarget val="inner"/>
          <c:xMode val="edge"/>
          <c:yMode val="edge"/>
          <c:x val="0.190253831417624"/>
          <c:y val="0.154320987654321"/>
          <c:w val="0.594947318007663"/>
          <c:h val="0.825056116722783"/>
        </c:manualLayout>
      </c:layout>
      <c:pie3DChart>
        <c:varyColors val="1"/>
        <c:ser>
          <c:idx val="0"/>
          <c:order val="0"/>
          <c:tx>
            <c:strRef>
              <c:f>'[employee_data.csv Sneha R Project.xlsx]Sheet2'!$B$1</c:f>
              <c:strCache>
                <c:ptCount val="1"/>
                <c:pt idx="0">
                  <c:v>LOW</c:v>
                </c:pt>
              </c:strCache>
            </c:strRef>
          </c:tx>
          <c:spPr/>
          <c:explosion val="0"/>
          <c:dPt>
            <c:idx val="0"/>
            <c:bubble3D val="0"/>
            <c:spPr>
              <a:solidFill>
                <a:schemeClr val="accent1"/>
              </a:solidFill>
              <a:ln w="25400">
                <a:solidFill>
                  <a:schemeClr val="lt1"/>
                </a:solidFill>
              </a:ln>
              <a:effectLst/>
            </c:spPr>
          </c:dPt>
          <c:dPt>
            <c:idx val="1"/>
            <c:bubble3D val="0"/>
            <c:spPr>
              <a:solidFill>
                <a:schemeClr val="accent2"/>
              </a:solidFill>
              <a:ln w="25400">
                <a:solidFill>
                  <a:schemeClr val="lt1"/>
                </a:solidFill>
              </a:ln>
              <a:effectLst/>
            </c:spPr>
          </c:dPt>
          <c:dPt>
            <c:idx val="2"/>
            <c:bubble3D val="0"/>
            <c:spPr>
              <a:solidFill>
                <a:schemeClr val="accent3"/>
              </a:solidFill>
              <a:ln w="25400">
                <a:solidFill>
                  <a:schemeClr val="lt1"/>
                </a:solidFill>
              </a:ln>
              <a:effectLst/>
            </c:spPr>
          </c:dPt>
          <c:dPt>
            <c:idx val="3"/>
            <c:bubble3D val="0"/>
            <c:spPr>
              <a:solidFill>
                <a:schemeClr val="accent4"/>
              </a:solidFill>
              <a:ln w="25400">
                <a:solidFill>
                  <a:schemeClr val="lt1"/>
                </a:solidFill>
              </a:ln>
              <a:effectLst/>
            </c:spPr>
          </c:dPt>
          <c:dPt>
            <c:idx val="4"/>
            <c:bubble3D val="0"/>
            <c:spPr>
              <a:solidFill>
                <a:schemeClr val="accent5"/>
              </a:solidFill>
              <a:ln w="25400">
                <a:solidFill>
                  <a:schemeClr val="lt1"/>
                </a:solidFill>
              </a:ln>
              <a:effectLst/>
            </c:spPr>
          </c:dPt>
          <c:dPt>
            <c:idx val="5"/>
            <c:bubble3D val="0"/>
            <c:spPr>
              <a:solidFill>
                <a:schemeClr val="accent6"/>
              </a:solidFill>
              <a:ln w="25400">
                <a:solidFill>
                  <a:schemeClr val="lt1"/>
                </a:solidFill>
              </a:ln>
              <a:effectLst/>
            </c:spPr>
          </c:dPt>
          <c:dPt>
            <c:idx val="6"/>
            <c:bubble3D val="0"/>
            <c:spPr>
              <a:solidFill>
                <a:schemeClr val="accent1">
                  <a:lumMod val="60000"/>
                </a:schemeClr>
              </a:solidFill>
              <a:ln w="25400">
                <a:solidFill>
                  <a:schemeClr val="lt1"/>
                </a:solidFill>
              </a:ln>
              <a:effectLst/>
            </c:spPr>
          </c:dPt>
          <c:dPt>
            <c:idx val="7"/>
            <c:bubble3D val="0"/>
            <c:spPr>
              <a:solidFill>
                <a:schemeClr val="accent2">
                  <a:lumMod val="60000"/>
                </a:schemeClr>
              </a:solidFill>
              <a:ln w="25400">
                <a:solidFill>
                  <a:schemeClr val="lt1"/>
                </a:solidFill>
              </a:ln>
              <a:effectLst/>
            </c:spPr>
          </c:dPt>
          <c:dPt>
            <c:idx val="8"/>
            <c:bubble3D val="0"/>
            <c:spPr>
              <a:solidFill>
                <a:schemeClr val="accent3">
                  <a:lumMod val="60000"/>
                </a:schemeClr>
              </a:solidFill>
              <a:ln w="25400">
                <a:solidFill>
                  <a:schemeClr val="lt1"/>
                </a:solidFill>
              </a:ln>
              <a:effectLst/>
            </c:spPr>
          </c:dPt>
          <c:dPt>
            <c:idx val="9"/>
            <c:bubble3D val="0"/>
            <c:spPr>
              <a:solidFill>
                <a:schemeClr val="accent4">
                  <a:lumMod val="60000"/>
                </a:schemeClr>
              </a:solidFill>
              <a:ln w="25400">
                <a:solidFill>
                  <a:schemeClr val="lt1"/>
                </a:solidFill>
              </a:ln>
              <a:effectLst/>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'[employee_data.csv Sneha R Project.xlsx]Sheet2'!$A$2:$A$11</c:f>
              <c:strCache>
                <c:ptCount val="10"/>
                <c:pt idx="0">
                  <c:v>BPC</c:v>
                </c:pt>
                <c:pt idx="1">
                  <c:v>CCDR</c:v>
                </c:pt>
                <c:pt idx="2">
                  <c:v>EW</c:v>
                </c:pt>
                <c:pt idx="3">
                  <c:v>MSC</c:v>
                </c:pt>
                <c:pt idx="4">
                  <c:v>NEL</c:v>
                </c:pt>
                <c:pt idx="5">
                  <c:v>PL</c:v>
                </c:pt>
                <c:pt idx="6">
                  <c:v>PYZ</c:v>
                </c:pt>
                <c:pt idx="7">
                  <c:v>SVG</c:v>
                </c:pt>
                <c:pt idx="8">
                  <c:v>TNS</c:v>
                </c:pt>
                <c:pt idx="9">
                  <c:v>WBL</c:v>
                </c:pt>
              </c:strCache>
            </c:strRef>
          </c:cat>
          <c:val>
            <c:numRef>
              <c:f>'[employee_data.csv Sneha R Project.xlsx]Sheet2'!$B$2:$B$11</c:f>
              <c:numCache>
                <c:formatCode>General</c:formatCode>
                <c:ptCount val="10"/>
                <c:pt idx="0">
                  <c:v>34</c:v>
                </c:pt>
                <c:pt idx="1">
                  <c:v>47</c:v>
                </c:pt>
                <c:pt idx="2">
                  <c:v>41</c:v>
                </c:pt>
                <c:pt idx="3">
                  <c:v>39</c:v>
                </c:pt>
                <c:pt idx="4">
                  <c:v>41</c:v>
                </c:pt>
                <c:pt idx="5">
                  <c:v>33</c:v>
                </c:pt>
                <c:pt idx="6">
                  <c:v>41</c:v>
                </c:pt>
                <c:pt idx="7">
                  <c:v>43</c:v>
                </c:pt>
                <c:pt idx="8">
                  <c:v>45</c:v>
                </c:pt>
                <c:pt idx="9">
                  <c:v>34</c:v>
                </c:pt>
              </c:numCache>
            </c:numRef>
          </c:val>
        </c:ser>
        <c:dLbls>
          <c:showLegendKey val="0"/>
          <c:showVal val="1"/>
          <c:showCatName val="0"/>
          <c:showSerName val="0"/>
          <c:showPercent val="0"/>
          <c:showBubbleSize val="0"/>
        </c:dLbls>
      </c:pie3DChart>
      <c:spPr>
        <a:noFill/>
        <a:ln>
          <a:noFill/>
        </a:ln>
        <a:effectLst/>
      </c:spPr>
    </c:plotArea>
    <c:legend>
      <c:legendPos val="t"/>
      <c:layout>
        <c:manualLayout>
          <c:xMode val="edge"/>
          <c:yMode val="edge"/>
          <c:x val="0.871052631578947"/>
          <c:y val="0.146990740740741"/>
          <c:w val="0.0978947368421053"/>
          <c:h val="0.71412037037037"/>
        </c:manualLayou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9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styleClr val="auto"/>
    </cs:lnRef>
    <cs:fillRef idx="1">
      <cs:styleClr val="auto"/>
    </cs:fillRef>
    <cs:effectRef idx="0"/>
    <cs:fontRef idx="minor">
      <a:schemeClr val="dk1"/>
    </cs:fontRef>
    <cs:spPr>
      <a:ln>
        <a:solidFill>
          <a:schemeClr val="bg1"/>
        </a:solidFill>
      </a:ln>
      <a:effectLs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9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styleClr val="auto"/>
    </cs:lnRef>
    <cs:fillRef idx="1">
      <cs:styleClr val="auto"/>
    </cs:fillRef>
    <cs:effectRef idx="0"/>
    <cs:fontRef idx="minor">
      <a:schemeClr val="dk1"/>
    </cs:fontRef>
    <cs:spPr>
      <a:ln>
        <a:solidFill>
          <a:schemeClr val="bg1"/>
        </a:solidFill>
      </a:ln>
      <a:effectLs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9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styleClr val="auto"/>
    </cs:lnRef>
    <cs:fillRef idx="1">
      <cs:styleClr val="auto"/>
    </cs:fillRef>
    <cs:effectRef idx="0"/>
    <cs:fontRef idx="minor">
      <a:schemeClr val="dk1"/>
    </cs:fontRef>
    <cs:spPr>
      <a:ln>
        <a:solidFill>
          <a:schemeClr val="bg1"/>
        </a:solidFill>
      </a:ln>
      <a:effectLs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hart" Target="../charts/chart3.xml"/><Relationship Id="rId1" Type="http://schemas.openxmlformats.org/officeDocument/2006/relationships/chart" Target="../charts/char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hart" Target="../charts/chart5.xml"/><Relationship Id="rId1"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p:txBody>
      </p:sp>
      <p:sp>
        <p:nvSpPr>
          <p:cNvPr id="7" name="object 7"/>
          <p:cNvSpPr txBox="1">
            <a:spLocks noGrp="1"/>
          </p:cNvSpPr>
          <p:nvPr>
            <p:ph type="ctrTitle"/>
          </p:nvPr>
        </p:nvSpPr>
        <p:spPr>
          <a:xfrm>
            <a:off x="-828675" y="19665"/>
            <a:ext cx="9982200" cy="1001556"/>
          </a:xfrm>
          <a:prstGeom prst="rect">
            <a:avLst/>
          </a:prstGeom>
        </p:spPr>
        <p:txBody>
          <a:bodyPr vert="horz" wrap="square" lIns="0" tIns="16510" rIns="0" bIns="0" rtlCol="0">
            <a:spAutoFit/>
          </a:bodyPr>
          <a:lstStyle/>
          <a:p>
            <a:pPr marL="3213735">
              <a:spcBef>
                <a:spcPts val="130"/>
              </a:spcBef>
            </a:pPr>
            <a:r>
              <a:rPr lang="en-US" b="1" dirty="0">
                <a:solidFill>
                  <a:srgbClr val="0F0F0F"/>
                </a:solidFill>
                <a:latin typeface="Times New Roman" panose="02020603050405020304" pitchFamily="18" charset="0"/>
                <a:cs typeface="Times New Roman" panose="02020603050405020304" pitchFamily="18" charset="0"/>
              </a:rPr>
              <a:t>Employee Data Analysis using Excel</a:t>
            </a:r>
            <a:r>
              <a:rPr lang="en-US" b="1" i="0" dirty="0">
                <a:solidFill>
                  <a:srgbClr val="0F0F0F"/>
                </a:solidFill>
                <a:effectLst/>
                <a:latin typeface="Times New Roman" panose="02020603050405020304" pitchFamily="18" charset="0"/>
                <a:cs typeface="Times New Roman" panose="02020603050405020304" pitchFamily="18" charset="0"/>
              </a:rPr>
              <a:t>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1"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14" name="TextBox 13"/>
          <p:cNvSpPr txBox="1"/>
          <p:nvPr/>
        </p:nvSpPr>
        <p:spPr>
          <a:xfrm>
            <a:off x="2554542" y="3314150"/>
            <a:ext cx="8610600" cy="1938020"/>
          </a:xfrm>
          <a:prstGeom prst="rect">
            <a:avLst/>
          </a:prstGeom>
          <a:noFill/>
        </p:spPr>
        <p:txBody>
          <a:bodyPr wrap="square" rtlCol="0">
            <a:spAutoFit/>
          </a:bodyPr>
          <a:lstStyle/>
          <a:p>
            <a:r>
              <a:rPr lang="en-US" sz="2400"/>
              <a:t>STUDENT NAME: Sneha R</a:t>
            </a:r>
            <a:endParaRPr lang="en-US" sz="2400" dirty="0"/>
          </a:p>
          <a:p>
            <a:r>
              <a:rPr lang="en-US" sz="2400" dirty="0"/>
              <a:t>REGISTER NO: 312215119</a:t>
            </a:r>
            <a:endParaRPr lang="en-US" sz="2400" dirty="0"/>
          </a:p>
          <a:p>
            <a:r>
              <a:rPr lang="en-US" sz="2400" dirty="0"/>
              <a:t>DEPARTMENT: B.Com Commerce</a:t>
            </a:r>
            <a:endParaRPr lang="en-US" sz="2400" dirty="0"/>
          </a:p>
          <a:p>
            <a:r>
              <a:rPr lang="en-US" sz="2400" dirty="0"/>
              <a:t>COLLEGE: Soka Ikeda Arts &amp; Science</a:t>
            </a:r>
            <a:endParaRPr lang="en-US" sz="2400" dirty="0"/>
          </a:p>
          <a:p>
            <a:r>
              <a:rPr lang="en-US" sz="2400" dirty="0"/>
              <a:t>           </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sp>
        <p:nvSpPr>
          <p:cNvPr id="17" name="object 17"/>
          <p:cNvSpPr txBox="1">
            <a:spLocks noGrp="1"/>
          </p:cNvSpPr>
          <p:nvPr>
            <p:ph type="title"/>
          </p:nvPr>
        </p:nvSpPr>
        <p:spPr>
          <a:xfrm>
            <a:off x="739775" y="829627"/>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1" cstate="print"/>
            <a:stretch>
              <a:fillRect/>
            </a:stretch>
          </p:blipFill>
          <p:spPr>
            <a:xfrm>
              <a:off x="676275" y="6467475"/>
              <a:ext cx="2143125" cy="200025"/>
            </a:xfrm>
            <a:prstGeom prst="rect">
              <a:avLst/>
            </a:prstGeom>
          </p:spPr>
        </p:pic>
        <p:pic>
          <p:nvPicPr>
            <p:cNvPr id="20" name="object 20"/>
            <p:cNvPicPr/>
            <p:nvPr/>
          </p:nvPicPr>
          <p:blipFill>
            <a:blip r:embed="rId2"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23" name="TextBox 22"/>
          <p:cNvSpPr txBox="1"/>
          <p:nvPr/>
        </p:nvSpPr>
        <p:spPr>
          <a:xfrm>
            <a:off x="1217522" y="2123271"/>
            <a:ext cx="8593228" cy="1446550"/>
          </a:xfrm>
          <a:prstGeom prst="rect">
            <a:avLst/>
          </a:prstGeom>
          <a:noFill/>
        </p:spPr>
        <p:txBody>
          <a:bodyPr wrap="square" rtlCol="0">
            <a:spAutoFit/>
          </a:bodyPr>
          <a:lstStyle/>
          <a:p>
            <a:r>
              <a:rPr lang="en-US" sz="4400" b="1" dirty="0">
                <a:solidFill>
                  <a:srgbClr val="0F0F0F"/>
                </a:solidFill>
                <a:latin typeface="Times New Roman" panose="02020603050405020304" pitchFamily="18" charset="0"/>
                <a:cs typeface="Times New Roman" panose="02020603050405020304" pitchFamily="18" charset="0"/>
              </a:rPr>
              <a:t>Employee Performance Analysis using Excel</a:t>
            </a:r>
            <a:endParaRPr lang="en-IN" sz="2800"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p:txBody>
      </p:sp>
      <p:pic>
        <p:nvPicPr>
          <p:cNvPr id="17" name="object 17"/>
          <p:cNvPicPr/>
          <p:nvPr/>
        </p:nvPicPr>
        <p:blipFill>
          <a:blip r:embed="rId1"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2" cstate="print"/>
            <a:stretch>
              <a:fillRect/>
            </a:stretch>
          </p:blipFill>
          <p:spPr>
            <a:xfrm>
              <a:off x="466725" y="6410325"/>
              <a:ext cx="3705225" cy="295275"/>
            </a:xfrm>
            <a:prstGeom prst="rect">
              <a:avLst/>
            </a:prstGeom>
          </p:spPr>
        </p:pic>
        <p:pic>
          <p:nvPicPr>
            <p:cNvPr id="20" name="object 20"/>
            <p:cNvPicPr/>
            <p:nvPr/>
          </p:nvPicPr>
          <p:blipFill>
            <a:blip r:embed="rId3"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endParaRPr dirty="0"/>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23" name="TextBox 22"/>
          <p:cNvSpPr txBox="1"/>
          <p:nvPr/>
        </p:nvSpPr>
        <p:spPr>
          <a:xfrm>
            <a:off x="2509807" y="1041533"/>
            <a:ext cx="5029200" cy="4401205"/>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Our Solution and Proposition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Dataset Description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Modelling Approach</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Discussion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5" name="object 5"/>
            <p:cNvPicPr/>
            <p:nvPr/>
          </p:nvPicPr>
          <p:blipFill>
            <a:blip r:embed="rId1" cstate="print"/>
            <a:stretch>
              <a:fillRect/>
            </a:stretch>
          </p:blipFill>
          <p:spPr>
            <a:xfrm>
              <a:off x="7991475" y="2933700"/>
              <a:ext cx="2762250" cy="3257550"/>
            </a:xfrm>
            <a:prstGeom prst="rect">
              <a:avLst/>
            </a:prstGeom>
          </p:spPr>
        </p:pic>
      </p:grpSp>
      <p:sp>
        <p:nvSpPr>
          <p:cNvPr id="9" name="Text Placeholder 8"/>
          <p:cNvSpPr>
            <a:spLocks noGrp="1"/>
          </p:cNvSpPr>
          <p:nvPr>
            <p:ph type="body" idx="1"/>
          </p:nvPr>
        </p:nvSpPr>
        <p:spPr>
          <a:xfrm>
            <a:off x="609600" y="1577340"/>
            <a:ext cx="10972800" cy="1723390"/>
          </a:xfrm>
        </p:spPr>
        <p:txBody>
          <a:bodyPr/>
          <a:p>
            <a:pPr marL="285750" indent="-285750">
              <a:buFont typeface="Arial" panose="020B0604020202020204" pitchFamily="34" charset="0"/>
              <a:buChar char="•"/>
            </a:pPr>
            <a:r>
              <a:rPr lang="en-US" altLang="en-IN" sz="2800" dirty="0">
                <a:solidFill>
                  <a:schemeClr val="tx1"/>
                </a:solidFill>
                <a:latin typeface="Times New Roman" panose="02020603050405020304" pitchFamily="18" charset="0"/>
                <a:cs typeface="Times New Roman" panose="02020603050405020304" pitchFamily="18" charset="0"/>
              </a:rPr>
              <a:t>To award the good performers and motivate employees who got low score.</a:t>
            </a:r>
            <a:endParaRPr lang="en-US" altLang="en-IN" sz="28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IN" sz="2800" dirty="0">
                <a:solidFill>
                  <a:schemeClr val="tx1"/>
                </a:solidFill>
                <a:latin typeface="Times New Roman" panose="02020603050405020304" pitchFamily="18" charset="0"/>
                <a:cs typeface="Times New Roman" panose="02020603050405020304" pitchFamily="18" charset="0"/>
              </a:rPr>
              <a:t>To give promotions and increments.</a:t>
            </a:r>
            <a:endParaRPr lang="en-US" altLang="en-IN" sz="28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IN" sz="2800" dirty="0">
                <a:solidFill>
                  <a:schemeClr val="tx1"/>
                </a:solidFill>
                <a:latin typeface="Times New Roman" panose="02020603050405020304" pitchFamily="18" charset="0"/>
                <a:cs typeface="Times New Roman" panose="02020603050405020304" pitchFamily="18" charset="0"/>
              </a:rPr>
              <a:t>To showcase in the company’s annual achievement ceremony.</a:t>
            </a:r>
            <a:endParaRPr lang="en-IN"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7" name="object 7"/>
          <p:cNvSpPr txBox="1">
            <a:spLocks noGrp="1"/>
          </p:cNvSpPr>
          <p:nvPr>
            <p:ph type="title"/>
          </p:nvPr>
        </p:nvSpPr>
        <p:spPr>
          <a:xfrm>
            <a:off x="755332" y="385444"/>
            <a:ext cx="10681335" cy="669925"/>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pic>
        <p:nvPicPr>
          <p:cNvPr id="8" name="object 8"/>
          <p:cNvPicPr/>
          <p:nvPr/>
        </p:nvPicPr>
        <p:blipFill>
          <a:blip r:embed="rId2"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xfrm>
            <a:off x="11353418" y="6473337"/>
            <a:ext cx="151129" cy="175895"/>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5" name="object 5"/>
            <p:cNvPicPr/>
            <p:nvPr/>
          </p:nvPicPr>
          <p:blipFill>
            <a:blip r:embed="rId1" cstate="print"/>
            <a:stretch>
              <a:fillRect/>
            </a:stretch>
          </p:blipFill>
          <p:spPr>
            <a:xfrm>
              <a:off x="8658225" y="2647950"/>
              <a:ext cx="3533775" cy="3810000"/>
            </a:xfrm>
            <a:prstGeom prst="rect">
              <a:avLst/>
            </a:prstGeom>
          </p:spPr>
        </p:pic>
      </p:gr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2"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11" name="TextBox 10"/>
          <p:cNvSpPr txBox="1"/>
          <p:nvPr/>
        </p:nvSpPr>
        <p:spPr>
          <a:xfrm>
            <a:off x="990600" y="1843405"/>
            <a:ext cx="7924800" cy="5182870"/>
          </a:xfrm>
          <a:prstGeom prst="rect">
            <a:avLst/>
          </a:prstGeom>
          <a:noFill/>
        </p:spPr>
        <p:txBody>
          <a:bodyPr wrap="square" rtlCol="0">
            <a:noAutofit/>
          </a:bodyPr>
          <a:lstStyle/>
          <a:p>
            <a:pPr algn="l">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.Employee performance analysis is the systematic evaluation of an employee's job performance, skills, and achievements to ensure they align with organizational goals. This process helps identify strengths and areas for improvement, providing valuable insights for employee development and decision-making. By analyzing performance data, companies can enhance productivity, set more accurate goals, and tailor training programs to individual needs.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7" name="Text Placeholder 6"/>
          <p:cNvSpPr>
            <a:spLocks noGrp="1"/>
          </p:cNvSpPr>
          <p:nvPr>
            <p:ph type="body" idx="1"/>
          </p:nvPr>
        </p:nvSpPr>
        <p:spPr>
          <a:xfrm>
            <a:off x="609600" y="1577340"/>
            <a:ext cx="10972800" cy="3046730"/>
          </a:xfrm>
        </p:spPr>
        <p:txBody>
          <a:bodyPr/>
          <a:p>
            <a:endParaRPr lang="en-US"/>
          </a:p>
          <a:p>
            <a:r>
              <a:rPr lang="en-US"/>
              <a:t>1. </a:t>
            </a:r>
            <a:r>
              <a:rPr lang="en-US" b="1"/>
              <a:t>Managers and Supervisors:</a:t>
            </a:r>
            <a:r>
              <a:rPr lang="en-US"/>
              <a:t> They use the analysis to provide feedback, set goals, and make decisions about promotions, raises, or development needs.</a:t>
            </a:r>
            <a:endParaRPr lang="en-US"/>
          </a:p>
          <a:p>
            <a:r>
              <a:rPr lang="en-US"/>
              <a:t>2. </a:t>
            </a:r>
            <a:r>
              <a:rPr lang="en-US" b="1"/>
              <a:t>Human Resources (HR) Professionals:</a:t>
            </a:r>
            <a:r>
              <a:rPr lang="en-US"/>
              <a:t> HR utilizes performance data to design training programs, align recruitment with organizational needs, and manage employee relations.</a:t>
            </a:r>
            <a:endParaRPr lang="en-US"/>
          </a:p>
          <a:p>
            <a:r>
              <a:rPr lang="en-US"/>
              <a:t>3. </a:t>
            </a:r>
            <a:r>
              <a:rPr lang="en-US" b="1"/>
              <a:t>Executives and Senior Leadership:</a:t>
            </a:r>
            <a:r>
              <a:rPr lang="en-US"/>
              <a:t> They use the insights to align performance with strategic objectives, assess overall organizational effectiveness, and make high-level decisions.</a:t>
            </a:r>
            <a:endParaRPr lang="en-US"/>
          </a:p>
          <a:p>
            <a:r>
              <a:rPr lang="en-US"/>
              <a:t>4. </a:t>
            </a:r>
            <a:r>
              <a:rPr lang="en-US" b="1"/>
              <a:t>Employees Themselves:</a:t>
            </a:r>
            <a:r>
              <a:rPr lang="en-US"/>
              <a:t> They receive feedback from the analysis to understand their performance, identify areas for improvement, and plan their career development.</a:t>
            </a:r>
            <a:endParaRPr lang="en-US"/>
          </a:p>
          <a:p>
            <a:r>
              <a:rPr lang="en-US"/>
              <a:t>5. </a:t>
            </a:r>
            <a:r>
              <a:rPr lang="en-US" b="1"/>
              <a:t>Team Leaders:</a:t>
            </a:r>
            <a:r>
              <a:rPr lang="en-US"/>
              <a:t> They apply performance analysis to improve team dynamics, allocate resources effectively, and enhance overall team productivity.</a:t>
            </a:r>
            <a:endParaRPr lang="en-US"/>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sp>
        <p:nvSpPr>
          <p:cNvPr id="5" name="object 5"/>
          <p:cNvSpPr txBox="1">
            <a:spLocks noGrp="1"/>
          </p:cNvSpPr>
          <p:nvPr>
            <p:ph type="title"/>
          </p:nvPr>
        </p:nvSpPr>
        <p:spPr>
          <a:xfrm>
            <a:off x="755332" y="385444"/>
            <a:ext cx="10681335" cy="508635"/>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1"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xfrm>
            <a:off x="11353418" y="6473337"/>
            <a:ext cx="151129" cy="175895"/>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idx="1"/>
          </p:nvPr>
        </p:nvSpPr>
        <p:spPr>
          <a:xfrm>
            <a:off x="609600" y="990600"/>
            <a:ext cx="10972800" cy="5816600"/>
          </a:xfrm>
        </p:spPr>
        <p:txBody>
          <a:bodyPr/>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a:t>1.</a:t>
            </a:r>
            <a:r>
              <a:rPr lang="en-US" sz="1800" b="1"/>
              <a:t> Filtering: </a:t>
            </a:r>
            <a:r>
              <a:rPr lang="en-US" sz="1800"/>
              <a:t>Filtering allows you to view only the rows that meet specific criteria, making it easier to focus on relevant data. For example, you can filter a sales dataset to show only transactions from a certain region or date range. This helps in quickly narrowing down data for detailed analysis.</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a:t>2.</a:t>
            </a:r>
            <a:r>
              <a:rPr lang="en-US" sz="1800" b="1"/>
              <a:t> IFS Formula: </a:t>
            </a:r>
            <a:r>
              <a:rPr lang="en-US" sz="1800"/>
              <a:t>The IFS formula is used for multiple conditional checks and returns values based on which condition is true. Unlike nested IF statements, IFS allows for a cleaner and more readable formula structure. For instance, you might use it to categorize performance scores into "Excellent," "Good," "Needs Improvement," based on different thresholds.</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a:t>3. </a:t>
            </a:r>
            <a:r>
              <a:rPr lang="en-US" sz="1800" b="1"/>
              <a:t>Pivot Tables:</a:t>
            </a:r>
            <a:r>
              <a:rPr lang="en-US" sz="1800"/>
              <a:t> Pivot tables are used to summarize, analyze, and present large datasets. They allow you to quickly aggregate data, such as calculating total sales by region or summarizing employee performance metrics. By dragging and dropping fields, you can reorganize data dynamically and extract meaningful insights without altering the original dataset.</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a:t>4. </a:t>
            </a:r>
            <a:r>
              <a:rPr lang="en-US" sz="1800" b="1"/>
              <a:t>Graphs: </a:t>
            </a:r>
            <a:r>
              <a:rPr lang="en-US" sz="1800"/>
              <a:t>Graphs (or charts) in Excel visualize data trends and comparisons, making it easier to interpret complex information. For example, a line graph can show sales trends over time, a bar chart can compare sales across different regions, and a pie chart can illustrate the market share distribution among products. Graphs help in presenting data in a visually appealing and understandable manner.</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sp>
        <p:nvSpPr>
          <p:cNvPr id="6" name="object 6"/>
          <p:cNvSpPr txBox="1">
            <a:spLocks noGrp="1"/>
          </p:cNvSpPr>
          <p:nvPr>
            <p:ph type="title"/>
          </p:nvPr>
        </p:nvSpPr>
        <p:spPr>
          <a:xfrm>
            <a:off x="755332" y="385444"/>
            <a:ext cx="10681335" cy="567055"/>
          </a:xfrm>
          <a:prstGeom prst="rect">
            <a:avLst/>
          </a:prstGeom>
        </p:spPr>
        <p:txBody>
          <a:bodyPr vert="horz" wrap="square" lIns="0" tIns="13335" rIns="0" bIns="0" rtlCol="0">
            <a:spAutoFit/>
          </a:bodyPr>
          <a:lstStyle/>
          <a:p>
            <a:pPr marL="12700">
              <a:lnSpc>
                <a:spcPct val="100000"/>
              </a:lnSpc>
              <a:spcBef>
                <a:spcPts val="105"/>
              </a:spcBef>
            </a:pPr>
            <a:r>
              <a:rPr sz="3600" spc="10" dirty="0"/>
              <a:t>O</a:t>
            </a:r>
            <a:r>
              <a:rPr sz="3600" spc="25" dirty="0"/>
              <a:t>U</a:t>
            </a:r>
            <a:r>
              <a:rPr sz="3600" dirty="0"/>
              <a:t>R</a:t>
            </a:r>
            <a:r>
              <a:rPr sz="3600" spc="5" dirty="0"/>
              <a:t> </a:t>
            </a: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endParaRPr sz="3600" dirty="0"/>
          </a:p>
        </p:txBody>
      </p:sp>
      <p:sp>
        <p:nvSpPr>
          <p:cNvPr id="9" name="object 9"/>
          <p:cNvSpPr txBox="1">
            <a:spLocks noGrp="1"/>
          </p:cNvSpPr>
          <p:nvPr>
            <p:ph type="sldNum" sz="quarter" idx="7"/>
          </p:nvPr>
        </p:nvSpPr>
        <p:spPr>
          <a:xfrm>
            <a:off x="11353418" y="6473337"/>
            <a:ext cx="151129" cy="175895"/>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332" y="385444"/>
            <a:ext cx="10681335" cy="738505"/>
          </a:xfrm>
        </p:spPr>
        <p:txBody>
          <a:bodyPr/>
          <a:lstStyle/>
          <a:p>
            <a:r>
              <a:rPr lang="en-IN" dirty="0"/>
              <a:t>Dataset Description</a:t>
            </a:r>
            <a:endParaRPr lang="en-IN" dirty="0"/>
          </a:p>
        </p:txBody>
      </p:sp>
      <p:sp>
        <p:nvSpPr>
          <p:cNvPr id="3" name="Text Placeholder 2"/>
          <p:cNvSpPr>
            <a:spLocks noGrp="1"/>
          </p:cNvSpPr>
          <p:nvPr>
            <p:ph type="body" idx="1"/>
          </p:nvPr>
        </p:nvSpPr>
        <p:spPr>
          <a:xfrm>
            <a:off x="609600" y="1577340"/>
            <a:ext cx="10972800" cy="3323590"/>
          </a:xfrm>
        </p:spPr>
        <p:txBody>
          <a:bodyPr/>
          <a:p>
            <a:r>
              <a:rPr lang="en-US" sz="2400"/>
              <a:t>employee-kaggle </a:t>
            </a:r>
            <a:endParaRPr lang="en-US" sz="2400"/>
          </a:p>
          <a:p>
            <a:r>
              <a:rPr lang="en-US" sz="2400"/>
              <a:t>26-feature</a:t>
            </a:r>
            <a:endParaRPr lang="en-US" sz="2400"/>
          </a:p>
          <a:p>
            <a:r>
              <a:rPr lang="en-US" sz="2400"/>
              <a:t>9-feature</a:t>
            </a:r>
            <a:endParaRPr lang="en-US" sz="2400"/>
          </a:p>
          <a:p>
            <a:r>
              <a:rPr lang="en-US" sz="2400"/>
              <a:t>name -                                 Alphabatical</a:t>
            </a:r>
            <a:endParaRPr lang="en-US" sz="2400"/>
          </a:p>
          <a:p>
            <a:r>
              <a:rPr lang="en-US" sz="2400"/>
              <a:t>employee type -                Alphabatical</a:t>
            </a:r>
            <a:endParaRPr lang="en-US" sz="2400"/>
          </a:p>
          <a:p>
            <a:r>
              <a:rPr lang="en-US" sz="2400"/>
              <a:t>performance level -          Numerical value</a:t>
            </a:r>
            <a:endParaRPr lang="en-US" sz="2400"/>
          </a:p>
          <a:p>
            <a:r>
              <a:rPr lang="en-US" sz="2400"/>
              <a:t>gender-male female</a:t>
            </a:r>
            <a:endParaRPr lang="en-US" sz="2400"/>
          </a:p>
          <a:p>
            <a:r>
              <a:rPr lang="en-US" sz="2400"/>
              <a:t>employee rating-               Numerical value</a:t>
            </a:r>
            <a:endParaRPr lang="en-US" sz="2400"/>
          </a:p>
          <a:p>
            <a:r>
              <a:rPr lang="en-US" sz="2400"/>
              <a:t>business unit -                   Alphabatical</a:t>
            </a:r>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3195"/>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 name="Text Placeholder 9"/>
          <p:cNvSpPr>
            <a:spLocks noGrp="1"/>
          </p:cNvSpPr>
          <p:nvPr>
            <p:ph type="body" idx="1"/>
          </p:nvPr>
        </p:nvSpPr>
        <p:spPr>
          <a:xfrm>
            <a:off x="609600" y="1577340"/>
            <a:ext cx="10972800" cy="1107440"/>
          </a:xfrm>
        </p:spPr>
        <p:txBody>
          <a:bodyPr/>
          <a:p>
            <a:pPr marL="285750" indent="-285750">
              <a:buFont typeface="Arial" panose="020B0604020202020204" pitchFamily="34" charset="0"/>
              <a:buChar char="•"/>
            </a:pPr>
            <a:r>
              <a:rPr lang="en-US" sz="2400">
                <a:highlight>
                  <a:srgbClr val="FFFF00"/>
                </a:highlight>
              </a:rPr>
              <a:t>=IFS(Z8&gt;=5,"VERY HIGH",Z8&gt;=4,"HIGH",Z8&gt;=3,"MEDIUM",TRUE,"LOW")</a:t>
            </a:r>
            <a:endParaRPr lang="en-US" sz="2400">
              <a:highlight>
                <a:srgbClr val="FFFF00"/>
              </a:highlight>
            </a:endParaRPr>
          </a:p>
          <a:p>
            <a:pPr marL="285750" indent="-285750">
              <a:buFont typeface="Arial" panose="020B0604020202020204" pitchFamily="34" charset="0"/>
              <a:buChar char="•"/>
            </a:pPr>
            <a:r>
              <a:rPr lang="en-US" sz="2400"/>
              <a:t>The above formula used to catagorize the performance level of the employees is considered as “WOW” in my project.</a:t>
            </a:r>
            <a:endParaRPr lang="en-US" sz="2400"/>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6" name="object 6"/>
          <p:cNvPicPr/>
          <p:nvPr/>
        </p:nvPicPr>
        <p:blipFill>
          <a:blip r:embed="rId1" cstate="print"/>
          <a:stretch>
            <a:fillRect/>
          </a:stretch>
        </p:blipFill>
        <p:spPr>
          <a:xfrm>
            <a:off x="7924800" y="3352798"/>
            <a:ext cx="2466975" cy="3419475"/>
          </a:xfrm>
          <a:prstGeom prst="rect">
            <a:avLst/>
          </a:prstGeom>
        </p:spPr>
      </p:pic>
      <p:sp>
        <p:nvSpPr>
          <p:cNvPr id="7" name="object 7"/>
          <p:cNvSpPr txBox="1">
            <a:spLocks noGrp="1"/>
          </p:cNvSpPr>
          <p:nvPr>
            <p:ph type="title"/>
          </p:nvPr>
        </p:nvSpPr>
        <p:spPr>
          <a:xfrm>
            <a:off x="755332" y="385444"/>
            <a:ext cx="10681335" cy="669925"/>
          </a:xfrm>
          <a:prstGeom prst="rect">
            <a:avLst/>
          </a:prstGeom>
        </p:spPr>
        <p:txBody>
          <a:bodyPr vert="horz" wrap="square" lIns="0" tIns="16510" rIns="0" bIns="0" rtlCol="0">
            <a:spAutoFit/>
          </a:bodyPr>
          <a:lstStyle/>
          <a:p>
            <a:pPr marL="12700">
              <a:lnSpc>
                <a:spcPct val="100000"/>
              </a:lnSpc>
              <a:spcBef>
                <a:spcPts val="130"/>
              </a:spcBef>
            </a:pPr>
            <a:r>
              <a:rPr sz="4250" spc="15" dirty="0"/>
              <a:t>THE</a:t>
            </a:r>
            <a:r>
              <a:rPr sz="4250" spc="20" dirty="0"/>
              <a:t> </a:t>
            </a:r>
            <a:r>
              <a:rPr lang="en-US" sz="4250" spc="20" dirty="0"/>
              <a:t>"</a:t>
            </a:r>
            <a:r>
              <a:rPr sz="4250" spc="10" dirty="0"/>
              <a:t>WOW</a:t>
            </a:r>
            <a:r>
              <a:rPr lang="en-US" sz="4250" spc="10" dirty="0"/>
              <a:t>"</a:t>
            </a:r>
            <a:r>
              <a:rPr sz="4250" spc="85" dirty="0"/>
              <a:t> </a:t>
            </a:r>
            <a:r>
              <a:rPr sz="4250" spc="10" dirty="0"/>
              <a:t>IN</a:t>
            </a:r>
            <a:r>
              <a:rPr sz="4250" spc="-5" dirty="0"/>
              <a:t> </a:t>
            </a:r>
            <a:r>
              <a:rPr sz="4250" spc="15" dirty="0"/>
              <a:t>OUR</a:t>
            </a:r>
            <a:r>
              <a:rPr sz="4250" spc="-10" dirty="0"/>
              <a:t> </a:t>
            </a:r>
            <a:r>
              <a:rPr sz="4250" spc="20" dirty="0"/>
              <a:t>SOLUTION</a:t>
            </a:r>
            <a:endParaRPr sz="4250" dirty="0"/>
          </a:p>
        </p:txBody>
      </p:sp>
      <p:sp>
        <p:nvSpPr>
          <p:cNvPr id="8" name="object 8"/>
          <p:cNvSpPr txBox="1"/>
          <p:nvPr/>
        </p:nvSpPr>
        <p:spPr>
          <a:xfrm>
            <a:off x="11277218" y="6473337"/>
            <a:ext cx="228600" cy="175895"/>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fld>
            <a:endParaRPr sz="1100">
              <a:latin typeface="Trebuchet MS" panose="020B0603020202020204"/>
              <a:cs typeface="Trebuchet MS" panose="020B0603020202020204"/>
            </a:endParaRPr>
          </a:p>
        </p:txBody>
      </p:sp>
      <p:sp>
        <p:nvSpPr>
          <p:cNvPr id="9" name="TextBox 8"/>
          <p:cNvSpPr txBox="1"/>
          <p:nvPr/>
        </p:nvSpPr>
        <p:spPr>
          <a:xfrm>
            <a:off x="2743200" y="2354703"/>
            <a:ext cx="8534018" cy="953135"/>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6" name="object 6"/>
          <p:cNvPicPr/>
          <p:nvPr/>
        </p:nvPicPr>
        <p:blipFill>
          <a:blip r:embed="rId1"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fld>
            <a:endParaRPr sz="1100">
              <a:latin typeface="Trebuchet MS" panose="020B0603020202020204"/>
              <a:cs typeface="Trebuchet MS" panose="020B0603020202020204"/>
            </a:endParaRPr>
          </a:p>
        </p:txBody>
      </p:sp>
      <p:sp>
        <p:nvSpPr>
          <p:cNvPr id="8" name="object 8"/>
          <p:cNvSpPr txBox="1"/>
          <p:nvPr/>
        </p:nvSpPr>
        <p:spPr>
          <a:xfrm>
            <a:off x="739775" y="291147"/>
            <a:ext cx="3303904" cy="758190"/>
          </a:xfrm>
          <a:prstGeom prst="rect">
            <a:avLst/>
          </a:prstGeom>
        </p:spPr>
        <p:txBody>
          <a:bodyPr vert="horz" wrap="square" lIns="0" tIns="13335" rIns="0" bIns="0" rtlCol="0">
            <a:spAutoFit/>
          </a:bodyPr>
          <a:lstStyle/>
          <a:p>
            <a:pPr marL="12700">
              <a:lnSpc>
                <a:spcPct val="100000"/>
              </a:lnSpc>
              <a:spcBef>
                <a:spcPts val="105"/>
              </a:spcBef>
            </a:pPr>
            <a:r>
              <a:rPr sz="4800" b="1" spc="15" dirty="0">
                <a:latin typeface="Trebuchet MS" panose="020B0603020202020204"/>
                <a:cs typeface="Trebuchet MS" panose="020B0603020202020204"/>
              </a:rPr>
              <a:t>M</a:t>
            </a:r>
            <a:r>
              <a:rPr sz="4800" b="1" dirty="0">
                <a:latin typeface="Trebuchet MS" panose="020B0603020202020204"/>
                <a:cs typeface="Trebuchet MS" panose="020B0603020202020204"/>
              </a:rPr>
              <a:t>O</a:t>
            </a:r>
            <a:r>
              <a:rPr sz="4800" b="1" spc="-15" dirty="0">
                <a:latin typeface="Trebuchet MS" panose="020B0603020202020204"/>
                <a:cs typeface="Trebuchet MS" panose="020B0603020202020204"/>
              </a:rPr>
              <a:t>D</a:t>
            </a:r>
            <a:r>
              <a:rPr sz="4800" b="1" spc="-35" dirty="0">
                <a:latin typeface="Trebuchet MS" panose="020B0603020202020204"/>
                <a:cs typeface="Trebuchet MS" panose="020B0603020202020204"/>
              </a:rPr>
              <a:t>E</a:t>
            </a:r>
            <a:r>
              <a:rPr sz="4800" b="1" spc="-30" dirty="0">
                <a:latin typeface="Trebuchet MS" panose="020B0603020202020204"/>
                <a:cs typeface="Trebuchet MS" panose="020B0603020202020204"/>
              </a:rPr>
              <a:t>LL</a:t>
            </a:r>
            <a:r>
              <a:rPr sz="4800" b="1" spc="-5" dirty="0">
                <a:latin typeface="Trebuchet MS" panose="020B0603020202020204"/>
                <a:cs typeface="Trebuchet MS" panose="020B0603020202020204"/>
              </a:rPr>
              <a:t>I</a:t>
            </a:r>
            <a:r>
              <a:rPr sz="4800" b="1" spc="30" dirty="0">
                <a:latin typeface="Trebuchet MS" panose="020B0603020202020204"/>
                <a:cs typeface="Trebuchet MS" panose="020B0603020202020204"/>
              </a:rPr>
              <a:t>N</a:t>
            </a:r>
            <a:r>
              <a:rPr sz="4800" b="1" spc="5" dirty="0">
                <a:latin typeface="Trebuchet MS" panose="020B0603020202020204"/>
                <a:cs typeface="Trebuchet MS" panose="020B0603020202020204"/>
              </a:rPr>
              <a:t>G</a:t>
            </a:r>
            <a:endParaRPr sz="4800" dirty="0">
              <a:latin typeface="Trebuchet MS" panose="020B0603020202020204"/>
              <a:cs typeface="Trebuchet MS" panose="020B0603020202020204"/>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2" name="Text Box 1"/>
          <p:cNvSpPr txBox="1"/>
          <p:nvPr/>
        </p:nvSpPr>
        <p:spPr>
          <a:xfrm>
            <a:off x="914400" y="1295400"/>
            <a:ext cx="8773160" cy="4246245"/>
          </a:xfrm>
          <a:prstGeom prst="rect">
            <a:avLst/>
          </a:prstGeom>
          <a:noFill/>
        </p:spPr>
        <p:txBody>
          <a:bodyPr wrap="square" rtlCol="0">
            <a:spAutoFit/>
          </a:bodyPr>
          <a:p>
            <a:r>
              <a:rPr lang="en-US" b="1"/>
              <a:t>Date Collection</a:t>
            </a:r>
            <a:endParaRPr lang="en-US" b="1"/>
          </a:p>
          <a:p>
            <a:r>
              <a:rPr lang="en-US"/>
              <a:t>1.Dashboard</a:t>
            </a:r>
            <a:endParaRPr lang="en-US"/>
          </a:p>
          <a:p>
            <a:r>
              <a:rPr lang="en-US" b="1"/>
              <a:t>Feature Collection</a:t>
            </a:r>
            <a:r>
              <a:rPr lang="en-US"/>
              <a:t> </a:t>
            </a:r>
            <a:endParaRPr lang="en-US"/>
          </a:p>
          <a:p>
            <a:r>
              <a:rPr lang="en-US"/>
              <a:t>1.Collection from the dashboard</a:t>
            </a:r>
            <a:endParaRPr lang="en-US"/>
          </a:p>
          <a:p>
            <a:r>
              <a:rPr lang="en-US" b="1"/>
              <a:t>Data cleaning</a:t>
            </a:r>
            <a:endParaRPr lang="en-US" b="1"/>
          </a:p>
          <a:p>
            <a:r>
              <a:rPr lang="en-US"/>
              <a:t>1.Identify the missing values</a:t>
            </a:r>
            <a:endParaRPr lang="en-US"/>
          </a:p>
          <a:p>
            <a:r>
              <a:rPr lang="en-US"/>
              <a:t>2.Filter out the missing values</a:t>
            </a:r>
            <a:endParaRPr lang="en-US"/>
          </a:p>
          <a:p>
            <a:r>
              <a:rPr lang="en-US" b="1"/>
              <a:t>Performance Level</a:t>
            </a:r>
            <a:endParaRPr lang="en-US" b="1"/>
          </a:p>
          <a:p>
            <a:r>
              <a:rPr lang="en-US"/>
              <a:t>1.Calculate with high level</a:t>
            </a:r>
            <a:endParaRPr lang="en-US"/>
          </a:p>
          <a:p>
            <a:r>
              <a:rPr lang="en-US"/>
              <a:t>2.Low level</a:t>
            </a:r>
            <a:endParaRPr lang="en-US"/>
          </a:p>
          <a:p>
            <a:r>
              <a:rPr lang="en-US" b="1"/>
              <a:t>Summary</a:t>
            </a:r>
            <a:endParaRPr lang="en-US" b="1"/>
          </a:p>
          <a:p>
            <a:r>
              <a:rPr lang="en-US"/>
              <a:t>1.Cartegories the performance Level of the employees</a:t>
            </a:r>
            <a:endParaRPr lang="en-US"/>
          </a:p>
          <a:p>
            <a:r>
              <a:rPr lang="en-US" b="1"/>
              <a:t>Visulaization</a:t>
            </a:r>
            <a:endParaRPr lang="en-US" b="1"/>
          </a:p>
          <a:p>
            <a:r>
              <a:rPr lang="en-US"/>
              <a:t>1.Consided high level and low level with the employee performance level</a:t>
            </a:r>
            <a:endParaRPr lang="en-US"/>
          </a:p>
          <a:p>
            <a:r>
              <a:rPr lang="en-US"/>
              <a:t>2.And also consided with very high and very low level employee performance level.</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endParaRPr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fld>
            <a:endParaRPr sz="1100">
              <a:latin typeface="Trebuchet MS" panose="020B0603020202020204"/>
              <a:cs typeface="Trebuchet MS" panose="020B0603020202020204"/>
            </a:endParaRPr>
          </a:p>
        </p:txBody>
      </p:sp>
      <p:graphicFrame>
        <p:nvGraphicFramePr>
          <p:cNvPr id="2" name="Content Placeholder 1"/>
          <p:cNvGraphicFramePr/>
          <p:nvPr>
            <p:ph sz="half" idx="2"/>
          </p:nvPr>
        </p:nvGraphicFramePr>
        <p:xfrm>
          <a:off x="609600" y="1400810"/>
          <a:ext cx="11070590" cy="469709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Results</a:t>
            </a:r>
            <a:endParaRPr lang="en-US"/>
          </a:p>
        </p:txBody>
      </p:sp>
      <p:graphicFrame>
        <p:nvGraphicFramePr>
          <p:cNvPr id="13" name="Content Placeholder 12"/>
          <p:cNvGraphicFramePr/>
          <p:nvPr>
            <p:ph sz="half" idx="3"/>
          </p:nvPr>
        </p:nvGraphicFramePr>
        <p:xfrm>
          <a:off x="6278880" y="1577340"/>
          <a:ext cx="5303520" cy="45262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5" name="Content Placeholder 14"/>
          <p:cNvGraphicFramePr/>
          <p:nvPr>
            <p:ph sz="half" idx="2"/>
          </p:nvPr>
        </p:nvGraphicFramePr>
        <p:xfrm>
          <a:off x="609600" y="1577340"/>
          <a:ext cx="5303520" cy="452628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Results</a:t>
            </a:r>
            <a:endParaRPr lang="en-US"/>
          </a:p>
        </p:txBody>
      </p:sp>
      <p:graphicFrame>
        <p:nvGraphicFramePr>
          <p:cNvPr id="9" name="Content Placeholder 8"/>
          <p:cNvGraphicFramePr/>
          <p:nvPr>
            <p:ph sz="half" idx="3"/>
          </p:nvPr>
        </p:nvGraphicFramePr>
        <p:xfrm>
          <a:off x="6278880" y="1577340"/>
          <a:ext cx="5303520" cy="45262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1" name="Content Placeholder 10"/>
          <p:cNvGraphicFramePr/>
          <p:nvPr>
            <p:ph sz="half" idx="2"/>
          </p:nvPr>
        </p:nvGraphicFramePr>
        <p:xfrm>
          <a:off x="609600" y="1577340"/>
          <a:ext cx="5303520" cy="452628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978535" y="1833245"/>
            <a:ext cx="7813040" cy="3357880"/>
          </a:xfrm>
          <a:prstGeom prst="rect">
            <a:avLst/>
          </a:prstGeom>
          <a:noFill/>
        </p:spPr>
        <p:txBody>
          <a:bodyPr wrap="square" rtlCol="0">
            <a:noAutofit/>
          </a:bodyPr>
          <a:p>
            <a:r>
              <a:rPr lang="en-US" sz="2000"/>
              <a:t>1.In overall, Majority Employees got “Medium” level in their performance.</a:t>
            </a:r>
            <a:endParaRPr lang="en-US" sz="2000"/>
          </a:p>
          <a:p>
            <a:r>
              <a:rPr lang="en-US" sz="2000"/>
              <a:t>2. Employees in PL business unit got majority “High” level performance rating.</a:t>
            </a:r>
            <a:endParaRPr lang="en-US" sz="2000"/>
          </a:p>
          <a:p>
            <a:r>
              <a:rPr lang="en-US" sz="2000"/>
              <a:t>3. Employees in SVG have got majority “Very high” level performance rating.</a:t>
            </a:r>
            <a:endParaRPr lang="en-US" sz="2000"/>
          </a:p>
          <a:p>
            <a:r>
              <a:rPr lang="en-US" sz="2000"/>
              <a:t>4. In CCDR, majority employees got “low” level ratings.</a:t>
            </a:r>
            <a:endParaRPr lang="en-US" sz="2000"/>
          </a:p>
          <a:p>
            <a:r>
              <a:rPr lang="en-US" sz="2000"/>
              <a:t>5. In MSC business unit, majority employees got “Medium” level performance rating.</a:t>
            </a:r>
            <a:endParaRPr lang="en-US" sz="2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4676</Words>
  <Application>WPS Presentation</Application>
  <PresentationFormat>Widescreen</PresentationFormat>
  <Paragraphs>130</Paragraphs>
  <Slides>14</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Trebuchet MS</vt:lpstr>
      <vt:lpstr>Times New Roman</vt:lpstr>
      <vt:lpstr>Roboto</vt:lpstr>
      <vt:lpstr>Calibri</vt:lpstr>
      <vt:lpstr>Microsoft YaHei</vt:lpstr>
      <vt:lpstr>Arial Unicode MS</vt:lpstr>
      <vt:lpstr>Office Theme</vt:lpstr>
      <vt:lpstr>Employee Data Analysis using Excel  </vt:lpstr>
      <vt:lpstr>PROJECT TITLE</vt:lpstr>
      <vt:lpstr>AGENDA</vt:lpstr>
      <vt:lpstr>PROBLEM	STATEMENT</vt:lpstr>
      <vt:lpstr>PROJECT	OVERVIEW</vt:lpstr>
      <vt:lpstr>WHO ARE THE END USERS?</vt:lpstr>
      <vt:lpstr>OUR SOLUTION AND ITS VALUE PROPOSITION</vt:lpstr>
      <vt:lpstr>Dataset Description</vt:lpstr>
      <vt:lpstr>THE "WOW" IN OUR SOLUTION</vt:lpstr>
      <vt:lpstr>PowerPoint 演示文稿</vt:lpstr>
      <vt:lpstr>RESULTS</vt:lpstr>
      <vt:lpstr>PowerPoint 演示文稿</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  </dc:title>
  <dc:creator>Konduru Narasimha</dc:creator>
  <cp:lastModifiedBy>1944 Sooraj</cp:lastModifiedBy>
  <cp:revision>16</cp:revision>
  <dcterms:created xsi:type="dcterms:W3CDTF">2024-03-29T15:07:00Z</dcterms:created>
  <dcterms:modified xsi:type="dcterms:W3CDTF">2024-08-25T08:41:14Z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2024-03-21T05:30:00Z</vt:filetime>
  </property>
  <property fmtid="{D5CDD505-2E9C-101B-9397-08002B2CF9AE}" pid="3" name="LastSaved">
    <vt:filetime>2024-03-29T05:30:00Z</vt:filetime>
  </property>
  <property fmtid="{D5CDD505-2E9C-101B-9397-08002B2CF9AE}" pid="4" name="ICV">
    <vt:lpwstr>230A246D004F4E738F37AFED4DFEFDEF_13</vt:lpwstr>
  </property>
  <property fmtid="{D5CDD505-2E9C-101B-9397-08002B2CF9AE}" pid="5" name="KSOProductBuildVer">
    <vt:lpwstr>1033-12.2.0.16909</vt:lpwstr>
  </property>
</Properties>
</file>